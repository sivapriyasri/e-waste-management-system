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handoutMasterIdLst>
    <p:handoutMasterId r:id="rId30"/>
  </p:handoutMasterIdLst>
  <p:sldIdLst>
    <p:sldId id="256" r:id="rId2"/>
    <p:sldId id="259" r:id="rId3"/>
    <p:sldId id="271" r:id="rId4"/>
    <p:sldId id="261" r:id="rId5"/>
    <p:sldId id="292" r:id="rId6"/>
    <p:sldId id="276" r:id="rId7"/>
    <p:sldId id="262" r:id="rId8"/>
    <p:sldId id="270" r:id="rId9"/>
    <p:sldId id="263" r:id="rId10"/>
    <p:sldId id="282" r:id="rId11"/>
    <p:sldId id="286" r:id="rId12"/>
    <p:sldId id="266" r:id="rId13"/>
    <p:sldId id="272" r:id="rId14"/>
    <p:sldId id="268" r:id="rId15"/>
    <p:sldId id="278" r:id="rId16"/>
    <p:sldId id="295" r:id="rId17"/>
    <p:sldId id="277" r:id="rId18"/>
    <p:sldId id="280" r:id="rId19"/>
    <p:sldId id="281" r:id="rId20"/>
    <p:sldId id="287" r:id="rId21"/>
    <p:sldId id="288" r:id="rId22"/>
    <p:sldId id="296" r:id="rId23"/>
    <p:sldId id="297" r:id="rId24"/>
    <p:sldId id="289" r:id="rId25"/>
    <p:sldId id="291" r:id="rId26"/>
    <p:sldId id="298" r:id="rId27"/>
    <p:sldId id="294"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icEZ3NUA0YY1UAUxKEwOerG/Iwx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6A2965-984A-41F9-BD4F-6C9A9AA9705B}" v="12" dt="2025-11-22T06:51:43.415"/>
  </p1510:revLst>
</p1510:revInfo>
</file>

<file path=ppt/tableStyles.xml><?xml version="1.0" encoding="utf-8"?>
<a:tblStyleLst xmlns:a="http://schemas.openxmlformats.org/drawingml/2006/main" def="{2D42FD62-2D95-49B5-AAF5-B657BEC087FE}">
  <a:tblStyle styleId="{2D42FD62-2D95-49B5-AAF5-B657BEC087FE}"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113" autoAdjust="0"/>
  </p:normalViewPr>
  <p:slideViewPr>
    <p:cSldViewPr snapToGrid="0">
      <p:cViewPr varScale="1">
        <p:scale>
          <a:sx n="77" d="100"/>
          <a:sy n="77" d="100"/>
        </p:scale>
        <p:origin x="883" y="72"/>
      </p:cViewPr>
      <p:guideLst>
        <p:guide orient="horz" pos="2160"/>
        <p:guide pos="3840"/>
      </p:guideLst>
    </p:cSldViewPr>
  </p:slideViewPr>
  <p:notesTextViewPr>
    <p:cViewPr>
      <p:scale>
        <a:sx n="1" d="1"/>
        <a:sy n="1" d="1"/>
      </p:scale>
      <p:origin x="0" y="0"/>
    </p:cViewPr>
  </p:notesText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50BD36AC-8215-6224-8DC7-4575FBB7AE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 xmlns:a16="http://schemas.microsoft.com/office/drawing/2014/main" id="{53525EEF-62D5-CFEE-533B-B23CB3B6554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FBBB97-667B-4CBB-A956-2BC5E193ECC0}" type="datetimeFigureOut">
              <a:rPr lang="en-IN" smtClean="0"/>
              <a:t>15-04-2026</a:t>
            </a:fld>
            <a:endParaRPr lang="en-IN"/>
          </a:p>
        </p:txBody>
      </p:sp>
      <p:sp>
        <p:nvSpPr>
          <p:cNvPr id="4" name="Footer Placeholder 3">
            <a:extLst>
              <a:ext uri="{FF2B5EF4-FFF2-40B4-BE49-F238E27FC236}">
                <a16:creationId xmlns="" xmlns:a16="http://schemas.microsoft.com/office/drawing/2014/main" id="{95B9A27E-8338-0ED2-9902-3F3A801F46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 xmlns:a16="http://schemas.microsoft.com/office/drawing/2014/main" id="{DBB57E7C-129E-A5F4-E383-BC5D76DE3A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338E54-7D8F-4020-8834-3CA79B6CC354}" type="slidenum">
              <a:rPr lang="en-IN" smtClean="0"/>
              <a:t>‹#›</a:t>
            </a:fld>
            <a:endParaRPr lang="en-IN"/>
          </a:p>
        </p:txBody>
      </p:sp>
    </p:spTree>
    <p:extLst>
      <p:ext uri="{BB962C8B-B14F-4D97-AF65-F5344CB8AC3E}">
        <p14:creationId xmlns:p14="http://schemas.microsoft.com/office/powerpoint/2010/main" val="2091599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576162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820462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9088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8A6635C8-4418-CE3D-486E-49D96F94A34E}"/>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CDA74148-FCF2-95BB-4555-EAC5297BADB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69F4B33D-D44D-78A0-8B81-0B6AABC872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51616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0889475B-13BA-7C70-0255-FAE4432663CC}"/>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1D73612A-63E3-A6E6-DCFD-BC71B6B0AD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B964FDCE-0D68-E9C3-E159-2944E3DC74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06596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F6FE522B-C741-19F0-C447-E9ED4F8C041F}"/>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13820602-D1DB-5D39-2A64-624AE71649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AEE28BD2-A69A-90F1-A9F3-95EDF41CD6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95429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52744E0E-5CD0-DBD7-5502-C91E8CC283F7}"/>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8564ACBB-4C8A-6936-4045-543D75446F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8E4AFBCD-BD10-4F5F-B606-1166CF7133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533751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E3FFE872-BFC3-C855-FC88-CA2AB5DABD3B}"/>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24FF7164-66BF-03D1-0BEC-346805D74D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FBCB9776-8ADE-20CC-28BD-F207C3F3D2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09926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84560024-756F-AD4F-2C57-1A1D88918900}"/>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2BE37D25-BBB4-809A-42A9-F0A54DD6EA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9E6AA38B-894B-445E-B629-298C5F3F83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734493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395EBDB8-4461-78E9-DD41-4F7E1A6AC915}"/>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E0E8538D-EB95-F56A-0F83-1329BE5904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E845D5FE-32F2-A584-567E-8F07DD4986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86821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769A9DCA-0803-AD30-3736-8D5E2335917C}"/>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F7CA0EC7-03F4-122B-2486-D6FBAFBEA3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B54BCAE3-49E0-B5FE-D097-6A17D71A594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26355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BD854470-9191-16A4-2105-59D43AA809A5}"/>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293B4D98-636C-3E11-1D17-C102339EEB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AD5CAC03-B231-95BE-4631-61B5D03602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227237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5DB61642-5723-9C83-B9AE-2F085DDD0E98}"/>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908DEAAD-32AF-38FD-CE87-98FBC64352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C21183B1-A135-AABD-AC04-862D0D9C26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47853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5A4E3843-6ED5-D218-80C9-0BF2FACDA2E2}"/>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B494D0F4-C9E2-C49C-3213-2DE96DF531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3E50EF04-3E42-1E81-F28D-32A181E802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2067552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75ADDEDE-55F6-8023-A851-852469625093}"/>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56EB0CB3-5DEB-84AB-0B14-022AB88BDF8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E4376E85-E1E8-13A6-C680-DF8057092B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0642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6391FFA9-BC82-9DDC-F850-8E9DCC0559F7}"/>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864320AF-2E45-4D60-6005-861DB5531F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6C718CB4-BD97-C29E-6585-49E8E7D0DD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92429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454E5BE0-4D32-A487-E379-594DC89D2CE4}"/>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C8884BE2-4EDD-DF9D-EFDB-DB75E538E9E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2E7FED25-B598-F1B7-4E01-6DFBC6397B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910950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D048A5EB-6CE3-EA7B-B6A8-59085630AD4C}"/>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3D51637D-A857-EC69-D2D2-125FB8AA9C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97730889-3433-D863-BCC0-5E8313BC322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7522784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 xmlns:a16="http://schemas.microsoft.com/office/drawing/2014/main" id="{67469893-23A0-E35A-C1A9-0CB1C80FD838}"/>
            </a:ext>
          </a:extLst>
        </p:cNvPr>
        <p:cNvGrpSpPr/>
        <p:nvPr/>
      </p:nvGrpSpPr>
      <p:grpSpPr>
        <a:xfrm>
          <a:off x="0" y="0"/>
          <a:ext cx="0" cy="0"/>
          <a:chOff x="0" y="0"/>
          <a:chExt cx="0" cy="0"/>
        </a:xfrm>
      </p:grpSpPr>
      <p:sp>
        <p:nvSpPr>
          <p:cNvPr id="145" name="Google Shape;145;p4:notes">
            <a:extLst>
              <a:ext uri="{FF2B5EF4-FFF2-40B4-BE49-F238E27FC236}">
                <a16:creationId xmlns="" xmlns:a16="http://schemas.microsoft.com/office/drawing/2014/main" id="{449ECD70-378F-C178-50A6-13A502B796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p4:notes">
            <a:extLst>
              <a:ext uri="{FF2B5EF4-FFF2-40B4-BE49-F238E27FC236}">
                <a16:creationId xmlns="" xmlns:a16="http://schemas.microsoft.com/office/drawing/2014/main" id="{2F9231C1-0703-494B-9D41-7BFBDB379A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991604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_1">
  <p:cSld name="Two Content_1">
    <p:spTree>
      <p:nvGrpSpPr>
        <p:cNvPr id="1" name="Shape 18"/>
        <p:cNvGrpSpPr/>
        <p:nvPr/>
      </p:nvGrpSpPr>
      <p:grpSpPr>
        <a:xfrm>
          <a:off x="0" y="0"/>
          <a:ext cx="0" cy="0"/>
          <a:chOff x="0" y="0"/>
          <a:chExt cx="0" cy="0"/>
        </a:xfrm>
      </p:grpSpPr>
      <p:cxnSp>
        <p:nvCxnSpPr>
          <p:cNvPr id="19" name="Google Shape;19;p31"/>
          <p:cNvCxnSpPr/>
          <p:nvPr/>
        </p:nvCxnSpPr>
        <p:spPr>
          <a:xfrm>
            <a:off x="0" y="1900238"/>
            <a:ext cx="12192000" cy="0"/>
          </a:xfrm>
          <a:prstGeom prst="straightConnector1">
            <a:avLst/>
          </a:prstGeom>
          <a:noFill/>
          <a:ln w="12700" cap="flat" cmpd="sng">
            <a:solidFill>
              <a:srgbClr val="262626"/>
            </a:solidFill>
            <a:prstDash val="solid"/>
            <a:round/>
            <a:headEnd type="none" w="sm" len="sm"/>
            <a:tailEnd type="none" w="sm" len="sm"/>
          </a:ln>
        </p:spPr>
      </p:cxnSp>
      <p:sp>
        <p:nvSpPr>
          <p:cNvPr id="20" name="Google Shape;20;p31"/>
          <p:cNvSpPr txBox="1">
            <a:spLocks noGrp="1"/>
          </p:cNvSpPr>
          <p:nvPr>
            <p:ph type="title"/>
          </p:nvPr>
        </p:nvSpPr>
        <p:spPr>
          <a:xfrm>
            <a:off x="1097280" y="230332"/>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1" name="Google Shape;21;p31"/>
          <p:cNvSpPr txBox="1">
            <a:spLocks noGrp="1"/>
          </p:cNvSpPr>
          <p:nvPr>
            <p:ph type="body" idx="1"/>
          </p:nvPr>
        </p:nvSpPr>
        <p:spPr>
          <a:xfrm>
            <a:off x="1097280" y="2464540"/>
            <a:ext cx="10058400" cy="3748194"/>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2" name="Google Shape;22;p31"/>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1"/>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b="0" i="0" u="none" strike="noStrike" cap="none">
                <a:solidFill>
                  <a:srgbClr val="FFFFFF"/>
                </a:solidFill>
                <a:latin typeface="Calibri"/>
                <a:ea typeface="Calibri"/>
                <a:cs typeface="Calibri"/>
                <a:sym typeface="Calibri"/>
              </a:defRPr>
            </a:lvl1pPr>
            <a:lvl2pPr marL="0" marR="0" lvl="1" indent="0" algn="r">
              <a:spcBef>
                <a:spcPts val="0"/>
              </a:spcBef>
              <a:buNone/>
              <a:defRPr sz="1000" b="0" i="0" u="none" strike="noStrike" cap="none">
                <a:solidFill>
                  <a:srgbClr val="FFFFFF"/>
                </a:solidFill>
                <a:latin typeface="Calibri"/>
                <a:ea typeface="Calibri"/>
                <a:cs typeface="Calibri"/>
                <a:sym typeface="Calibri"/>
              </a:defRPr>
            </a:lvl2pPr>
            <a:lvl3pPr marL="0" marR="0" lvl="2" indent="0" algn="r">
              <a:spcBef>
                <a:spcPts val="0"/>
              </a:spcBef>
              <a:buNone/>
              <a:defRPr sz="1000" b="0" i="0" u="none" strike="noStrike" cap="none">
                <a:solidFill>
                  <a:srgbClr val="FFFFFF"/>
                </a:solidFill>
                <a:latin typeface="Calibri"/>
                <a:ea typeface="Calibri"/>
                <a:cs typeface="Calibri"/>
                <a:sym typeface="Calibri"/>
              </a:defRPr>
            </a:lvl3pPr>
            <a:lvl4pPr marL="0" marR="0" lvl="3" indent="0" algn="r">
              <a:spcBef>
                <a:spcPts val="0"/>
              </a:spcBef>
              <a:buNone/>
              <a:defRPr sz="1000" b="0" i="0" u="none" strike="noStrike" cap="none">
                <a:solidFill>
                  <a:srgbClr val="FFFFFF"/>
                </a:solidFill>
                <a:latin typeface="Calibri"/>
                <a:ea typeface="Calibri"/>
                <a:cs typeface="Calibri"/>
                <a:sym typeface="Calibri"/>
              </a:defRPr>
            </a:lvl4pPr>
            <a:lvl5pPr marL="0" marR="0" lvl="4" indent="0" algn="r">
              <a:spcBef>
                <a:spcPts val="0"/>
              </a:spcBef>
              <a:buNone/>
              <a:defRPr sz="1000" b="0" i="0" u="none" strike="noStrike" cap="none">
                <a:solidFill>
                  <a:srgbClr val="FFFFFF"/>
                </a:solidFill>
                <a:latin typeface="Calibri"/>
                <a:ea typeface="Calibri"/>
                <a:cs typeface="Calibri"/>
                <a:sym typeface="Calibri"/>
              </a:defRPr>
            </a:lvl5pPr>
            <a:lvl6pPr marL="0" marR="0" lvl="5" indent="0" algn="r">
              <a:spcBef>
                <a:spcPts val="0"/>
              </a:spcBef>
              <a:buNone/>
              <a:defRPr sz="1000" b="0" i="0" u="none" strike="noStrike" cap="none">
                <a:solidFill>
                  <a:srgbClr val="FFFFFF"/>
                </a:solidFill>
                <a:latin typeface="Calibri"/>
                <a:ea typeface="Calibri"/>
                <a:cs typeface="Calibri"/>
                <a:sym typeface="Calibri"/>
              </a:defRPr>
            </a:lvl6pPr>
            <a:lvl7pPr marL="0" marR="0" lvl="6" indent="0" algn="r">
              <a:spcBef>
                <a:spcPts val="0"/>
              </a:spcBef>
              <a:buNone/>
              <a:defRPr sz="1000" b="0" i="0" u="none" strike="noStrike" cap="none">
                <a:solidFill>
                  <a:srgbClr val="FFFFFF"/>
                </a:solidFill>
                <a:latin typeface="Calibri"/>
                <a:ea typeface="Calibri"/>
                <a:cs typeface="Calibri"/>
                <a:sym typeface="Calibri"/>
              </a:defRPr>
            </a:lvl7pPr>
            <a:lvl8pPr marL="0" marR="0" lvl="7" indent="0" algn="r">
              <a:spcBef>
                <a:spcPts val="0"/>
              </a:spcBef>
              <a:buNone/>
              <a:defRPr sz="1000" b="0" i="0" u="none" strike="noStrike" cap="none">
                <a:solidFill>
                  <a:srgbClr val="FFFFFF"/>
                </a:solidFill>
                <a:latin typeface="Calibri"/>
                <a:ea typeface="Calibri"/>
                <a:cs typeface="Calibri"/>
                <a:sym typeface="Calibri"/>
              </a:defRPr>
            </a:lvl8pPr>
            <a:lvl9pPr marL="0" marR="0" lvl="8" indent="0" algn="r">
              <a:spcBef>
                <a:spcPts val="0"/>
              </a:spcBef>
              <a:buNone/>
              <a:defRPr sz="10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32"/>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26" name="Google Shape;26;p32"/>
          <p:cNvSpPr txBox="1">
            <a:spLocks noGrp="1"/>
          </p:cNvSpPr>
          <p:nvPr>
            <p:ph type="body" idx="1"/>
          </p:nvPr>
        </p:nvSpPr>
        <p:spPr>
          <a:xfrm>
            <a:off x="1096963" y="2108200"/>
            <a:ext cx="10058400" cy="3760788"/>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27" name="Google Shape;27;p32"/>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32"/>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2"/>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46"/>
        <p:cNvGrpSpPr/>
        <p:nvPr/>
      </p:nvGrpSpPr>
      <p:grpSpPr>
        <a:xfrm>
          <a:off x="0" y="0"/>
          <a:ext cx="0" cy="0"/>
          <a:chOff x="0" y="0"/>
          <a:chExt cx="0" cy="0"/>
        </a:xfrm>
      </p:grpSpPr>
      <p:sp>
        <p:nvSpPr>
          <p:cNvPr id="47" name="Google Shape;47;p35"/>
          <p:cNvSpPr/>
          <p:nvPr/>
        </p:nvSpPr>
        <p:spPr>
          <a:xfrm>
            <a:off x="5700713" y="-46038"/>
            <a:ext cx="6505575" cy="6446838"/>
          </a:xfrm>
          <a:prstGeom prst="rect">
            <a:avLst/>
          </a:prstGeom>
          <a:solidFill>
            <a:srgbClr val="D7D7F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8" name="Google Shape;48;p35"/>
          <p:cNvSpPr/>
          <p:nvPr/>
        </p:nvSpPr>
        <p:spPr>
          <a:xfrm>
            <a:off x="3175" y="6400800"/>
            <a:ext cx="12188825" cy="457200"/>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 name="Google Shape;49;p35"/>
          <p:cNvCxnSpPr/>
          <p:nvPr/>
        </p:nvCxnSpPr>
        <p:spPr>
          <a:xfrm>
            <a:off x="6265863" y="3178175"/>
            <a:ext cx="5419725" cy="0"/>
          </a:xfrm>
          <a:prstGeom prst="straightConnector1">
            <a:avLst/>
          </a:prstGeom>
          <a:noFill/>
          <a:ln w="34925" cap="flat" cmpd="sng">
            <a:solidFill>
              <a:srgbClr val="00B0F0"/>
            </a:solidFill>
            <a:prstDash val="solid"/>
            <a:round/>
            <a:headEnd type="none" w="sm" len="sm"/>
            <a:tailEnd type="none" w="sm" len="sm"/>
          </a:ln>
        </p:spPr>
      </p:cxnSp>
      <p:pic>
        <p:nvPicPr>
          <p:cNvPr id="51" name="Google Shape;51;p35" descr="Kalasalingam Academy of Research and Education - Wikipedia"/>
          <p:cNvPicPr preferRelativeResize="0"/>
          <p:nvPr/>
        </p:nvPicPr>
        <p:blipFill rotWithShape="1">
          <a:blip r:embed="rId2">
            <a:alphaModFix/>
          </a:blip>
          <a:srcRect/>
          <a:stretch/>
        </p:blipFill>
        <p:spPr>
          <a:xfrm>
            <a:off x="10826750" y="53975"/>
            <a:ext cx="1323975" cy="1209675"/>
          </a:xfrm>
          <a:prstGeom prst="rect">
            <a:avLst/>
          </a:prstGeom>
          <a:noFill/>
          <a:ln>
            <a:noFill/>
          </a:ln>
        </p:spPr>
      </p:pic>
      <p:sp>
        <p:nvSpPr>
          <p:cNvPr id="52" name="Google Shape;52;p35"/>
          <p:cNvSpPr txBox="1">
            <a:spLocks noGrp="1"/>
          </p:cNvSpPr>
          <p:nvPr>
            <p:ph type="title"/>
          </p:nvPr>
        </p:nvSpPr>
        <p:spPr>
          <a:xfrm>
            <a:off x="6266398" y="1858519"/>
            <a:ext cx="5419344" cy="11430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1400"/>
              <a:buNone/>
              <a:defRPr sz="4000" b="0">
                <a:solidFill>
                  <a:schemeClr val="dk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53" name="Google Shape;53;p35"/>
          <p:cNvSpPr txBox="1">
            <a:spLocks noGrp="1"/>
          </p:cNvSpPr>
          <p:nvPr>
            <p:ph type="body" idx="1"/>
          </p:nvPr>
        </p:nvSpPr>
        <p:spPr>
          <a:xfrm>
            <a:off x="6266398" y="3410077"/>
            <a:ext cx="5419344" cy="2768600"/>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4" name="Google Shape;54;p35"/>
          <p:cNvSpPr txBox="1">
            <a:spLocks noGrp="1"/>
          </p:cNvSpPr>
          <p:nvPr>
            <p:ph type="body" idx="2"/>
          </p:nvPr>
        </p:nvSpPr>
        <p:spPr>
          <a:xfrm>
            <a:off x="476250" y="1263650"/>
            <a:ext cx="4703763" cy="4914900"/>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5" name="Google Shape;55;p35"/>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5"/>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36"/>
          <p:cNvSpPr/>
          <p:nvPr/>
        </p:nvSpPr>
        <p:spPr>
          <a:xfrm>
            <a:off x="3175" y="6400800"/>
            <a:ext cx="12188825" cy="457200"/>
          </a:xfrm>
          <a:prstGeom prst="rect">
            <a:avLst/>
          </a:prstGeom>
          <a:solidFill>
            <a:srgbClr val="007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cxnSp>
        <p:nvCxnSpPr>
          <p:cNvPr id="59" name="Google Shape;59;p36"/>
          <p:cNvCxnSpPr/>
          <p:nvPr/>
        </p:nvCxnSpPr>
        <p:spPr>
          <a:xfrm>
            <a:off x="0" y="1282700"/>
            <a:ext cx="12192000" cy="0"/>
          </a:xfrm>
          <a:prstGeom prst="straightConnector1">
            <a:avLst/>
          </a:prstGeom>
          <a:noFill/>
          <a:ln w="12700" cap="flat" cmpd="sng">
            <a:solidFill>
              <a:srgbClr val="3F3F3F"/>
            </a:solidFill>
            <a:prstDash val="solid"/>
            <a:round/>
            <a:headEnd type="none" w="sm" len="sm"/>
            <a:tailEnd type="none" w="sm" len="sm"/>
          </a:ln>
        </p:spPr>
      </p:cxnSp>
      <p:sp>
        <p:nvSpPr>
          <p:cNvPr id="60" name="Google Shape;60;p36"/>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a:solidFill>
                  <a:schemeClr val="lt1"/>
                </a:solidFill>
                <a:latin typeface="Calibri"/>
                <a:ea typeface="Calibri"/>
                <a:cs typeface="Calibri"/>
                <a:sym typeface="Calibri"/>
              </a:rPr>
              <a:t>© </a:t>
            </a:r>
            <a:r>
              <a:rPr lang="en-US" sz="1050" dirty="0" err="1">
                <a:solidFill>
                  <a:schemeClr val="lt1"/>
                </a:solidFill>
                <a:latin typeface="Calibri"/>
                <a:ea typeface="Calibri"/>
                <a:cs typeface="Calibri"/>
                <a:sym typeface="Calibri"/>
              </a:rPr>
              <a:t>Kalasalingam</a:t>
            </a:r>
            <a:r>
              <a:rPr lang="en-US" sz="1050" dirty="0">
                <a:solidFill>
                  <a:schemeClr val="lt1"/>
                </a:solidFill>
                <a:latin typeface="Calibri"/>
                <a:ea typeface="Calibri"/>
                <a:cs typeface="Calibri"/>
                <a:sym typeface="Calibri"/>
              </a:rPr>
              <a:t> Academy of Research and Education</a:t>
            </a:r>
            <a:endParaRPr dirty="0"/>
          </a:p>
        </p:txBody>
      </p:sp>
      <p:pic>
        <p:nvPicPr>
          <p:cNvPr id="61" name="Google Shape;61;p36" descr="Kalasalingam Academy of Research and Education - Wikipedia"/>
          <p:cNvPicPr preferRelativeResize="0"/>
          <p:nvPr/>
        </p:nvPicPr>
        <p:blipFill rotWithShape="1">
          <a:blip r:embed="rId2">
            <a:alphaModFix/>
          </a:blip>
          <a:srcRect/>
          <a:stretch/>
        </p:blipFill>
        <p:spPr>
          <a:xfrm>
            <a:off x="10826750" y="53975"/>
            <a:ext cx="1323975" cy="1209675"/>
          </a:xfrm>
          <a:prstGeom prst="rect">
            <a:avLst/>
          </a:prstGeom>
          <a:noFill/>
          <a:ln>
            <a:noFill/>
          </a:ln>
        </p:spPr>
      </p:pic>
      <p:sp>
        <p:nvSpPr>
          <p:cNvPr id="62" name="Google Shape;62;p36"/>
          <p:cNvSpPr txBox="1">
            <a:spLocks noGrp="1"/>
          </p:cNvSpPr>
          <p:nvPr>
            <p:ph type="title"/>
          </p:nvPr>
        </p:nvSpPr>
        <p:spPr>
          <a:xfrm>
            <a:off x="0" y="0"/>
            <a:ext cx="12192000" cy="1296537"/>
          </a:xfrm>
          <a:prstGeom prst="rect">
            <a:avLst/>
          </a:prstGeom>
          <a:solidFill>
            <a:srgbClr val="D7D7F9">
              <a:alpha val="49803"/>
            </a:srgbClr>
          </a:solidFill>
          <a:ln>
            <a:noFill/>
          </a:ln>
        </p:spPr>
        <p:txBody>
          <a:bodyPr spcFirstLastPara="1" wrap="square" lIns="720000" tIns="1080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3" name="Google Shape;63;p36"/>
          <p:cNvSpPr txBox="1">
            <a:spLocks noGrp="1"/>
          </p:cNvSpPr>
          <p:nvPr>
            <p:ph type="body" idx="1"/>
          </p:nvPr>
        </p:nvSpPr>
        <p:spPr>
          <a:xfrm>
            <a:off x="744355" y="1812759"/>
            <a:ext cx="4954159" cy="3748193"/>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4" name="Google Shape;64;p36"/>
          <p:cNvSpPr txBox="1">
            <a:spLocks noGrp="1"/>
          </p:cNvSpPr>
          <p:nvPr>
            <p:ph type="body" idx="2"/>
          </p:nvPr>
        </p:nvSpPr>
        <p:spPr>
          <a:xfrm>
            <a:off x="6499901" y="1812759"/>
            <a:ext cx="4954159" cy="3748194"/>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5" name="Google Shape;65;p36"/>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6"/>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Picture with Content">
  <p:cSld name="1_Picture with Content">
    <p:spTree>
      <p:nvGrpSpPr>
        <p:cNvPr id="1" name="Shape 67"/>
        <p:cNvGrpSpPr/>
        <p:nvPr/>
      </p:nvGrpSpPr>
      <p:grpSpPr>
        <a:xfrm>
          <a:off x="0" y="0"/>
          <a:ext cx="0" cy="0"/>
          <a:chOff x="0" y="0"/>
          <a:chExt cx="0" cy="0"/>
        </a:xfrm>
      </p:grpSpPr>
      <p:sp>
        <p:nvSpPr>
          <p:cNvPr id="68" name="Google Shape;68;p37"/>
          <p:cNvSpPr/>
          <p:nvPr/>
        </p:nvSpPr>
        <p:spPr>
          <a:xfrm>
            <a:off x="3175" y="6400800"/>
            <a:ext cx="12188825" cy="457200"/>
          </a:xfrm>
          <a:prstGeom prst="rect">
            <a:avLst/>
          </a:prstGeom>
          <a:solidFill>
            <a:srgbClr val="007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cxnSp>
        <p:nvCxnSpPr>
          <p:cNvPr id="69" name="Google Shape;69;p37"/>
          <p:cNvCxnSpPr/>
          <p:nvPr/>
        </p:nvCxnSpPr>
        <p:spPr>
          <a:xfrm>
            <a:off x="0" y="1282700"/>
            <a:ext cx="12192000" cy="0"/>
          </a:xfrm>
          <a:prstGeom prst="straightConnector1">
            <a:avLst/>
          </a:prstGeom>
          <a:noFill/>
          <a:ln w="12700" cap="flat" cmpd="sng">
            <a:solidFill>
              <a:srgbClr val="3F3F3F"/>
            </a:solidFill>
            <a:prstDash val="solid"/>
            <a:round/>
            <a:headEnd type="none" w="sm" len="sm"/>
            <a:tailEnd type="none" w="sm" len="sm"/>
          </a:ln>
        </p:spPr>
      </p:cxnSp>
      <p:sp>
        <p:nvSpPr>
          <p:cNvPr id="70" name="Google Shape;70;p37"/>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lt1"/>
                </a:solidFill>
                <a:latin typeface="Calibri"/>
                <a:ea typeface="Calibri"/>
                <a:cs typeface="Calibri"/>
                <a:sym typeface="Calibri"/>
              </a:rPr>
              <a:t>© Kalasalingam academy of research and education</a:t>
            </a:r>
            <a:endParaRPr/>
          </a:p>
        </p:txBody>
      </p:sp>
      <p:pic>
        <p:nvPicPr>
          <p:cNvPr id="71" name="Google Shape;71;p37" descr="Kalasalingam Academy of Research and Education - Wikipedia"/>
          <p:cNvPicPr preferRelativeResize="0"/>
          <p:nvPr/>
        </p:nvPicPr>
        <p:blipFill rotWithShape="1">
          <a:blip r:embed="rId2">
            <a:alphaModFix/>
          </a:blip>
          <a:srcRect/>
          <a:stretch/>
        </p:blipFill>
        <p:spPr>
          <a:xfrm>
            <a:off x="10826750" y="53975"/>
            <a:ext cx="1323975" cy="1209675"/>
          </a:xfrm>
          <a:prstGeom prst="rect">
            <a:avLst/>
          </a:prstGeom>
          <a:noFill/>
          <a:ln>
            <a:noFill/>
          </a:ln>
        </p:spPr>
      </p:pic>
      <p:sp>
        <p:nvSpPr>
          <p:cNvPr id="72" name="Google Shape;72;p37"/>
          <p:cNvSpPr txBox="1">
            <a:spLocks noGrp="1"/>
          </p:cNvSpPr>
          <p:nvPr>
            <p:ph type="title"/>
          </p:nvPr>
        </p:nvSpPr>
        <p:spPr>
          <a:xfrm>
            <a:off x="0" y="0"/>
            <a:ext cx="12192000" cy="1296537"/>
          </a:xfrm>
          <a:prstGeom prst="rect">
            <a:avLst/>
          </a:prstGeom>
          <a:solidFill>
            <a:srgbClr val="D7D7F9">
              <a:alpha val="49803"/>
            </a:srgbClr>
          </a:solidFill>
          <a:ln>
            <a:noFill/>
          </a:ln>
        </p:spPr>
        <p:txBody>
          <a:bodyPr spcFirstLastPara="1" wrap="square" lIns="684000" tIns="108000" rIns="91425" bIns="45700" anchor="ctr" anchorCtr="0">
            <a:normAutofit/>
          </a:bodyPr>
          <a:lstStyle>
            <a:lvl1pPr lvl="0" algn="l">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3" name="Google Shape;73;p37"/>
          <p:cNvSpPr txBox="1">
            <a:spLocks noGrp="1"/>
          </p:cNvSpPr>
          <p:nvPr>
            <p:ph type="body" idx="1"/>
          </p:nvPr>
        </p:nvSpPr>
        <p:spPr>
          <a:xfrm>
            <a:off x="747981" y="1812759"/>
            <a:ext cx="10905457" cy="4088418"/>
          </a:xfrm>
          <a:prstGeom prst="rect">
            <a:avLst/>
          </a:prstGeom>
          <a:noFill/>
          <a:ln>
            <a:noFill/>
          </a:ln>
        </p:spPr>
        <p:txBody>
          <a:bodyPr spcFirstLastPara="1" wrap="square" lIns="0" tIns="45700" rIns="0" bIns="45700" anchor="t" anchorCtr="0">
            <a:noAutofit/>
          </a:bodyPr>
          <a:lstStyle>
            <a:lvl1pPr marL="457200" lvl="0" indent="-342900" algn="l">
              <a:spcBef>
                <a:spcPts val="1200"/>
              </a:spcBef>
              <a:spcAft>
                <a:spcPts val="0"/>
              </a:spcAft>
              <a:buSzPts val="1800"/>
              <a:buChar char=" "/>
              <a:defRPr/>
            </a:lvl1pPr>
            <a:lvl2pPr marL="914400" lvl="1" indent="-342900" algn="l">
              <a:spcBef>
                <a:spcPts val="200"/>
              </a:spcBef>
              <a:spcAft>
                <a:spcPts val="0"/>
              </a:spcAft>
              <a:buClr>
                <a:srgbClr val="404040"/>
              </a:buClr>
              <a:buSzPts val="1800"/>
              <a:buChar char="◦"/>
              <a:defRPr/>
            </a:lvl2pPr>
            <a:lvl3pPr marL="1371600" lvl="2" indent="-342900" algn="l">
              <a:spcBef>
                <a:spcPts val="400"/>
              </a:spcBef>
              <a:spcAft>
                <a:spcPts val="0"/>
              </a:spcAft>
              <a:buClr>
                <a:srgbClr val="404040"/>
              </a:buClr>
              <a:buSzPts val="1800"/>
              <a:buChar char="◦"/>
              <a:defRPr/>
            </a:lvl3pPr>
            <a:lvl4pPr marL="1828800" lvl="3" indent="-342900" algn="l">
              <a:spcBef>
                <a:spcPts val="400"/>
              </a:spcBef>
              <a:spcAft>
                <a:spcPts val="0"/>
              </a:spcAft>
              <a:buClr>
                <a:srgbClr val="404040"/>
              </a:buClr>
              <a:buSzPts val="1800"/>
              <a:buChar char="◦"/>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37"/>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7"/>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76"/>
        <p:cNvGrpSpPr/>
        <p:nvPr/>
      </p:nvGrpSpPr>
      <p:grpSpPr>
        <a:xfrm>
          <a:off x="0" y="0"/>
          <a:ext cx="0" cy="0"/>
          <a:chOff x="0" y="0"/>
          <a:chExt cx="0" cy="0"/>
        </a:xfrm>
      </p:grpSpPr>
      <p:sp>
        <p:nvSpPr>
          <p:cNvPr id="77" name="Google Shape;77;p38"/>
          <p:cNvSpPr/>
          <p:nvPr/>
        </p:nvSpPr>
        <p:spPr>
          <a:xfrm>
            <a:off x="3175" y="6400800"/>
            <a:ext cx="12188825" cy="457200"/>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8" name="Google Shape;78;p38"/>
          <p:cNvCxnSpPr/>
          <p:nvPr/>
        </p:nvCxnSpPr>
        <p:spPr>
          <a:xfrm>
            <a:off x="0" y="1900238"/>
            <a:ext cx="12192000" cy="0"/>
          </a:xfrm>
          <a:prstGeom prst="straightConnector1">
            <a:avLst/>
          </a:prstGeom>
          <a:noFill/>
          <a:ln w="12700" cap="flat" cmpd="sng">
            <a:solidFill>
              <a:srgbClr val="262626"/>
            </a:solidFill>
            <a:prstDash val="solid"/>
            <a:round/>
            <a:headEnd type="none" w="sm" len="sm"/>
            <a:tailEnd type="none" w="sm" len="sm"/>
          </a:ln>
        </p:spPr>
      </p:cxnSp>
      <p:sp>
        <p:nvSpPr>
          <p:cNvPr id="79" name="Google Shape;79;p38"/>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lt1"/>
                </a:solidFill>
                <a:latin typeface="Calibri"/>
                <a:ea typeface="Calibri"/>
                <a:cs typeface="Calibri"/>
                <a:sym typeface="Calibri"/>
              </a:rPr>
              <a:t>© Kalasalingam academy of research and education</a:t>
            </a:r>
            <a:endParaRPr/>
          </a:p>
        </p:txBody>
      </p:sp>
      <p:pic>
        <p:nvPicPr>
          <p:cNvPr id="80" name="Google Shape;80;p38" descr="Kalasalingam Academy of Research and Education - Wikipedia"/>
          <p:cNvPicPr preferRelativeResize="0"/>
          <p:nvPr/>
        </p:nvPicPr>
        <p:blipFill rotWithShape="1">
          <a:blip r:embed="rId2">
            <a:alphaModFix/>
          </a:blip>
          <a:srcRect/>
          <a:stretch/>
        </p:blipFill>
        <p:spPr>
          <a:xfrm>
            <a:off x="10826750" y="53975"/>
            <a:ext cx="1323975" cy="1209675"/>
          </a:xfrm>
          <a:prstGeom prst="rect">
            <a:avLst/>
          </a:prstGeom>
          <a:noFill/>
          <a:ln>
            <a:noFill/>
          </a:ln>
        </p:spPr>
      </p:pic>
      <p:sp>
        <p:nvSpPr>
          <p:cNvPr id="81" name="Google Shape;81;p38"/>
          <p:cNvSpPr txBox="1">
            <a:spLocks noGrp="1"/>
          </p:cNvSpPr>
          <p:nvPr>
            <p:ph type="title"/>
          </p:nvPr>
        </p:nvSpPr>
        <p:spPr>
          <a:xfrm>
            <a:off x="1097280" y="230332"/>
            <a:ext cx="10058400" cy="145075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82" name="Google Shape;82;p38"/>
          <p:cNvSpPr txBox="1">
            <a:spLocks noGrp="1"/>
          </p:cNvSpPr>
          <p:nvPr>
            <p:ph type="body" idx="1"/>
          </p:nvPr>
        </p:nvSpPr>
        <p:spPr>
          <a:xfrm>
            <a:off x="1080347" y="2346008"/>
            <a:ext cx="10058400" cy="3748194"/>
          </a:xfrm>
          <a:prstGeom prst="rect">
            <a:avLst/>
          </a:prstGeom>
          <a:noFill/>
          <a:ln>
            <a:noFill/>
          </a:ln>
        </p:spPr>
        <p:txBody>
          <a:bodyPr spcFirstLastPara="1" wrap="square" lIns="0" tIns="45700" rIns="0" bIns="45700" anchor="t" anchorCtr="0">
            <a:normAutofit/>
          </a:bodyPr>
          <a:lstStyle>
            <a:lvl1pPr marL="457200" lvl="0" indent="-330200" algn="l">
              <a:spcBef>
                <a:spcPts val="1200"/>
              </a:spcBef>
              <a:spcAft>
                <a:spcPts val="0"/>
              </a:spcAft>
              <a:buSzPts val="1600"/>
              <a:buChar char=" "/>
              <a:defRPr sz="1600"/>
            </a:lvl1pPr>
            <a:lvl2pPr marL="914400" lvl="1" indent="-330200" algn="l">
              <a:spcBef>
                <a:spcPts val="200"/>
              </a:spcBef>
              <a:spcAft>
                <a:spcPts val="0"/>
              </a:spcAft>
              <a:buClr>
                <a:srgbClr val="404040"/>
              </a:buClr>
              <a:buSzPts val="1600"/>
              <a:buChar char="◦"/>
              <a:defRPr sz="1600"/>
            </a:lvl2pPr>
            <a:lvl3pPr marL="1371600" lvl="2" indent="-330200" algn="l">
              <a:spcBef>
                <a:spcPts val="400"/>
              </a:spcBef>
              <a:spcAft>
                <a:spcPts val="0"/>
              </a:spcAft>
              <a:buClr>
                <a:srgbClr val="404040"/>
              </a:buClr>
              <a:buSzPts val="1600"/>
              <a:buChar char="◦"/>
              <a:defRPr sz="1600"/>
            </a:lvl3pPr>
            <a:lvl4pPr marL="1828800" lvl="3" indent="-330200" algn="l">
              <a:spcBef>
                <a:spcPts val="400"/>
              </a:spcBef>
              <a:spcAft>
                <a:spcPts val="0"/>
              </a:spcAft>
              <a:buClr>
                <a:srgbClr val="404040"/>
              </a:buClr>
              <a:buSzPts val="1600"/>
              <a:buChar char="◦"/>
              <a:defRPr sz="1600"/>
            </a:lvl4pPr>
            <a:lvl5pPr marL="2286000" lvl="4" indent="-330200" algn="l">
              <a:spcBef>
                <a:spcPts val="400"/>
              </a:spcBef>
              <a:spcAft>
                <a:spcPts val="0"/>
              </a:spcAft>
              <a:buClr>
                <a:srgbClr val="404040"/>
              </a:buClr>
              <a:buSzPts val="1600"/>
              <a:buChar char="◦"/>
              <a:defRPr sz="1600"/>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3" name="Google Shape;83;p38"/>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8"/>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9"/>
        <p:cNvGrpSpPr/>
        <p:nvPr/>
      </p:nvGrpSpPr>
      <p:grpSpPr>
        <a:xfrm>
          <a:off x="0" y="0"/>
          <a:ext cx="0" cy="0"/>
          <a:chOff x="0" y="0"/>
          <a:chExt cx="0" cy="0"/>
        </a:xfrm>
      </p:grpSpPr>
      <p:sp>
        <p:nvSpPr>
          <p:cNvPr id="90" name="Google Shape;90;p40"/>
          <p:cNvSpPr/>
          <p:nvPr/>
        </p:nvSpPr>
        <p:spPr>
          <a:xfrm>
            <a:off x="3175" y="6400800"/>
            <a:ext cx="12188825" cy="457200"/>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0"/>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lt1"/>
                </a:solidFill>
                <a:latin typeface="Calibri"/>
                <a:ea typeface="Calibri"/>
                <a:cs typeface="Calibri"/>
                <a:sym typeface="Calibri"/>
              </a:rPr>
              <a:t>© Kalasalingam academy of research and education</a:t>
            </a:r>
            <a:endParaRPr/>
          </a:p>
        </p:txBody>
      </p:sp>
      <p:pic>
        <p:nvPicPr>
          <p:cNvPr id="92" name="Google Shape;92;p40" descr="Kalasalingam Academy of Research and Education - Wikipedia"/>
          <p:cNvPicPr preferRelativeResize="0"/>
          <p:nvPr/>
        </p:nvPicPr>
        <p:blipFill rotWithShape="1">
          <a:blip r:embed="rId2">
            <a:alphaModFix/>
          </a:blip>
          <a:srcRect/>
          <a:stretch/>
        </p:blipFill>
        <p:spPr>
          <a:xfrm>
            <a:off x="10826750" y="25400"/>
            <a:ext cx="1323975" cy="1211263"/>
          </a:xfrm>
          <a:prstGeom prst="rect">
            <a:avLst/>
          </a:prstGeom>
          <a:noFill/>
          <a:ln>
            <a:noFill/>
          </a:ln>
        </p:spPr>
      </p:pic>
      <p:sp>
        <p:nvSpPr>
          <p:cNvPr id="93" name="Google Shape;93;p40"/>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40"/>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95"/>
        <p:cNvGrpSpPr/>
        <p:nvPr/>
      </p:nvGrpSpPr>
      <p:grpSpPr>
        <a:xfrm>
          <a:off x="0" y="0"/>
          <a:ext cx="0" cy="0"/>
          <a:chOff x="0" y="0"/>
          <a:chExt cx="0" cy="0"/>
        </a:xfrm>
      </p:grpSpPr>
      <p:sp>
        <p:nvSpPr>
          <p:cNvPr id="96" name="Google Shape;96;p41"/>
          <p:cNvSpPr/>
          <p:nvPr/>
        </p:nvSpPr>
        <p:spPr>
          <a:xfrm>
            <a:off x="4803775" y="0"/>
            <a:ext cx="7388225" cy="6446838"/>
          </a:xfrm>
          <a:prstGeom prst="rect">
            <a:avLst/>
          </a:prstGeom>
          <a:solidFill>
            <a:srgbClr val="1D1BBC">
              <a:alpha val="24705"/>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1"/>
          <p:cNvSpPr/>
          <p:nvPr/>
        </p:nvSpPr>
        <p:spPr>
          <a:xfrm>
            <a:off x="3175" y="6400800"/>
            <a:ext cx="12188825" cy="457200"/>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8" name="Google Shape;98;p41"/>
          <p:cNvCxnSpPr/>
          <p:nvPr/>
        </p:nvCxnSpPr>
        <p:spPr>
          <a:xfrm>
            <a:off x="723900" y="1768475"/>
            <a:ext cx="3290888" cy="0"/>
          </a:xfrm>
          <a:prstGeom prst="straightConnector1">
            <a:avLst/>
          </a:prstGeom>
          <a:noFill/>
          <a:ln w="15875" cap="flat" cmpd="sng">
            <a:solidFill>
              <a:srgbClr val="262626"/>
            </a:solidFill>
            <a:prstDash val="solid"/>
            <a:round/>
            <a:headEnd type="none" w="sm" len="sm"/>
            <a:tailEnd type="none" w="sm" len="sm"/>
          </a:ln>
        </p:spPr>
      </p:cxnSp>
      <p:sp>
        <p:nvSpPr>
          <p:cNvPr id="99" name="Google Shape;99;p41"/>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lt1"/>
                </a:solidFill>
                <a:latin typeface="Calibri"/>
                <a:ea typeface="Calibri"/>
                <a:cs typeface="Calibri"/>
                <a:sym typeface="Calibri"/>
              </a:rPr>
              <a:t>© Kalasalingam academy of research and education</a:t>
            </a:r>
            <a:endParaRPr/>
          </a:p>
        </p:txBody>
      </p:sp>
      <p:sp>
        <p:nvSpPr>
          <p:cNvPr id="100" name="Google Shape;100;p41"/>
          <p:cNvSpPr txBox="1">
            <a:spLocks noGrp="1"/>
          </p:cNvSpPr>
          <p:nvPr>
            <p:ph type="title"/>
          </p:nvPr>
        </p:nvSpPr>
        <p:spPr>
          <a:xfrm>
            <a:off x="643466" y="488254"/>
            <a:ext cx="3517567" cy="10879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SzPts val="1400"/>
              <a:buNone/>
              <a:defRPr sz="3600" b="0">
                <a:solidFill>
                  <a:srgbClr val="13127D"/>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01" name="Google Shape;101;p41"/>
          <p:cNvSpPr txBox="1">
            <a:spLocks noGrp="1"/>
          </p:cNvSpPr>
          <p:nvPr>
            <p:ph type="body" idx="1"/>
          </p:nvPr>
        </p:nvSpPr>
        <p:spPr>
          <a:xfrm>
            <a:off x="403625" y="2038720"/>
            <a:ext cx="3517567" cy="3311706"/>
          </a:xfrm>
          <a:prstGeom prst="rect">
            <a:avLst/>
          </a:prstGeom>
          <a:noFill/>
          <a:ln>
            <a:noFill/>
          </a:ln>
        </p:spPr>
        <p:txBody>
          <a:bodyPr spcFirstLastPara="1" wrap="square" lIns="91425" tIns="45700" rIns="91425" bIns="45700" anchor="t" anchorCtr="0">
            <a:normAutofit/>
          </a:bodyPr>
          <a:lstStyle>
            <a:lvl1pPr marL="457200" lvl="0" indent="-342900" algn="l">
              <a:spcBef>
                <a:spcPts val="1200"/>
              </a:spcBef>
              <a:spcAft>
                <a:spcPts val="0"/>
              </a:spcAft>
              <a:buSzPts val="1800"/>
              <a:buFont typeface="Noto Sans Symbols"/>
              <a:buChar char="▪"/>
              <a:defRPr sz="1800">
                <a:solidFill>
                  <a:schemeClr val="dk1"/>
                </a:solidFill>
              </a:defRPr>
            </a:lvl1pPr>
            <a:lvl2pPr marL="914400" lvl="1" indent="-228600" algn="l">
              <a:spcBef>
                <a:spcPts val="200"/>
              </a:spcBef>
              <a:spcAft>
                <a:spcPts val="0"/>
              </a:spcAft>
              <a:buClr>
                <a:srgbClr val="404040"/>
              </a:buClr>
              <a:buSzPts val="1200"/>
              <a:buNone/>
              <a:defRPr sz="1200"/>
            </a:lvl2pPr>
            <a:lvl3pPr marL="1371600" lvl="2" indent="-228600" algn="l">
              <a:spcBef>
                <a:spcPts val="400"/>
              </a:spcBef>
              <a:spcAft>
                <a:spcPts val="0"/>
              </a:spcAft>
              <a:buClr>
                <a:srgbClr val="404040"/>
              </a:buClr>
              <a:buSzPts val="1000"/>
              <a:buNone/>
              <a:defRPr sz="1000"/>
            </a:lvl3pPr>
            <a:lvl4pPr marL="1828800" lvl="3" indent="-228600" algn="l">
              <a:spcBef>
                <a:spcPts val="400"/>
              </a:spcBef>
              <a:spcAft>
                <a:spcPts val="0"/>
              </a:spcAft>
              <a:buClr>
                <a:srgbClr val="404040"/>
              </a:buClr>
              <a:buSzPts val="900"/>
              <a:buNone/>
              <a:defRPr sz="900"/>
            </a:lvl4pPr>
            <a:lvl5pPr marL="2286000" lvl="4" indent="-228600" algn="l">
              <a:spcBef>
                <a:spcPts val="400"/>
              </a:spcBef>
              <a:spcAft>
                <a:spcPts val="0"/>
              </a:spcAft>
              <a:buClr>
                <a:srgbClr val="404040"/>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02" name="Google Shape;102;p41"/>
          <p:cNvSpPr>
            <a:spLocks noGrp="1"/>
          </p:cNvSpPr>
          <p:nvPr>
            <p:ph type="pic" idx="2"/>
          </p:nvPr>
        </p:nvSpPr>
        <p:spPr>
          <a:xfrm>
            <a:off x="5599113" y="1692275"/>
            <a:ext cx="6592887" cy="3190875"/>
          </a:xfrm>
          <a:prstGeom prst="rect">
            <a:avLst/>
          </a:prstGeom>
          <a:solidFill>
            <a:srgbClr val="D8D8D8">
              <a:alpha val="49803"/>
            </a:srgbClr>
          </a:solidFill>
          <a:ln>
            <a:noFill/>
          </a:ln>
        </p:spPr>
        <p:txBody>
          <a:bodyPr/>
          <a:lstStyle/>
          <a:p>
            <a:endParaRPr lang="en-IN"/>
          </a:p>
        </p:txBody>
      </p:sp>
      <p:sp>
        <p:nvSpPr>
          <p:cNvPr id="103" name="Google Shape;103;p41"/>
          <p:cNvSpPr txBox="1">
            <a:spLocks noGrp="1"/>
          </p:cNvSpPr>
          <p:nvPr>
            <p:ph type="ftr" idx="11"/>
          </p:nvPr>
        </p:nvSpPr>
        <p:spPr>
          <a:xfrm>
            <a:off x="3468688" y="6446838"/>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41"/>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105"/>
        <p:cNvGrpSpPr/>
        <p:nvPr/>
      </p:nvGrpSpPr>
      <p:grpSpPr>
        <a:xfrm>
          <a:off x="0" y="0"/>
          <a:ext cx="0" cy="0"/>
          <a:chOff x="0" y="0"/>
          <a:chExt cx="0" cy="0"/>
        </a:xfrm>
      </p:grpSpPr>
      <p:sp>
        <p:nvSpPr>
          <p:cNvPr id="106" name="Google Shape;106;p42"/>
          <p:cNvSpPr/>
          <p:nvPr/>
        </p:nvSpPr>
        <p:spPr>
          <a:xfrm>
            <a:off x="3175" y="6400800"/>
            <a:ext cx="12188825" cy="457200"/>
          </a:xfrm>
          <a:prstGeom prst="rect">
            <a:avLst/>
          </a:prstGeom>
          <a:solidFill>
            <a:srgbClr val="007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42"/>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lt1"/>
                </a:solidFill>
                <a:latin typeface="Calibri"/>
                <a:ea typeface="Calibri"/>
                <a:cs typeface="Calibri"/>
                <a:sym typeface="Calibri"/>
              </a:rPr>
              <a:t>© Kalasalingam academy of research and education</a:t>
            </a:r>
            <a:endParaRPr/>
          </a:p>
        </p:txBody>
      </p:sp>
      <p:sp>
        <p:nvSpPr>
          <p:cNvPr id="108" name="Google Shape;108;p42"/>
          <p:cNvSpPr txBox="1">
            <a:spLocks noGrp="1"/>
          </p:cNvSpPr>
          <p:nvPr>
            <p:ph type="body" idx="1"/>
          </p:nvPr>
        </p:nvSpPr>
        <p:spPr>
          <a:xfrm>
            <a:off x="5356422" y="5034909"/>
            <a:ext cx="6835291" cy="817251"/>
          </a:xfrm>
          <a:prstGeom prst="rect">
            <a:avLst/>
          </a:prstGeom>
          <a:solidFill>
            <a:srgbClr val="262626"/>
          </a:solidFill>
          <a:ln>
            <a:noFill/>
          </a:ln>
        </p:spPr>
        <p:txBody>
          <a:bodyPr spcFirstLastPara="1" wrap="square" lIns="396000" tIns="0" rIns="0" bIns="45700" anchor="ctr" anchorCtr="0">
            <a:normAutofit/>
          </a:bodyPr>
          <a:lstStyle>
            <a:lvl1pPr marL="457200" lvl="0" indent="-381000" algn="l">
              <a:spcBef>
                <a:spcPts val="1200"/>
              </a:spcBef>
              <a:spcAft>
                <a:spcPts val="0"/>
              </a:spcAft>
              <a:buSzPts val="2400"/>
              <a:buChar char=" "/>
              <a:defRPr sz="2400">
                <a:solidFill>
                  <a:srgbClr val="B0B0F3"/>
                </a:solidFill>
              </a:defRPr>
            </a:lvl1pPr>
            <a:lvl2pPr marL="914400" lvl="1" indent="-406400" algn="l">
              <a:spcBef>
                <a:spcPts val="200"/>
              </a:spcBef>
              <a:spcAft>
                <a:spcPts val="0"/>
              </a:spcAft>
              <a:buClr>
                <a:schemeClr val="lt1"/>
              </a:buClr>
              <a:buSzPts val="2800"/>
              <a:buChar char="◦"/>
              <a:defRPr>
                <a:solidFill>
                  <a:schemeClr val="lt1"/>
                </a:solidFill>
              </a:defRPr>
            </a:lvl2pPr>
            <a:lvl3pPr marL="1371600" lvl="2" indent="-317500" algn="l">
              <a:spcBef>
                <a:spcPts val="400"/>
              </a:spcBef>
              <a:spcAft>
                <a:spcPts val="0"/>
              </a:spcAft>
              <a:buClr>
                <a:schemeClr val="lt1"/>
              </a:buClr>
              <a:buSzPts val="1400"/>
              <a:buChar char="◦"/>
              <a:defRPr>
                <a:solidFill>
                  <a:schemeClr val="lt1"/>
                </a:solidFill>
              </a:defRPr>
            </a:lvl3pPr>
            <a:lvl4pPr marL="1828800" lvl="3" indent="-317500" algn="l">
              <a:spcBef>
                <a:spcPts val="400"/>
              </a:spcBef>
              <a:spcAft>
                <a:spcPts val="0"/>
              </a:spcAft>
              <a:buClr>
                <a:schemeClr val="lt1"/>
              </a:buClr>
              <a:buSzPts val="1400"/>
              <a:buChar char="◦"/>
              <a:defRPr>
                <a:solidFill>
                  <a:schemeClr val="lt1"/>
                </a:solidFill>
              </a:defRPr>
            </a:lvl4pPr>
            <a:lvl5pPr marL="2286000" lvl="4" indent="-342900" algn="l">
              <a:spcBef>
                <a:spcPts val="400"/>
              </a:spcBef>
              <a:spcAft>
                <a:spcPts val="0"/>
              </a:spcAft>
              <a:buClr>
                <a:srgbClr val="404040"/>
              </a:buClr>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9" name="Google Shape;109;p42"/>
          <p:cNvSpPr txBox="1">
            <a:spLocks noGrp="1"/>
          </p:cNvSpPr>
          <p:nvPr>
            <p:ph type="title"/>
          </p:nvPr>
        </p:nvSpPr>
        <p:spPr>
          <a:xfrm>
            <a:off x="5356143" y="3975295"/>
            <a:ext cx="6835858" cy="1089350"/>
          </a:xfrm>
          <a:prstGeom prst="rect">
            <a:avLst/>
          </a:prstGeom>
          <a:solidFill>
            <a:srgbClr val="262626"/>
          </a:solidFill>
          <a:ln>
            <a:noFill/>
          </a:ln>
        </p:spPr>
        <p:txBody>
          <a:bodyPr spcFirstLastPara="1" wrap="square" lIns="396000" tIns="252000" rIns="91425" bIns="45700" anchor="t" anchorCtr="0">
            <a:noAutofit/>
          </a:bodyPr>
          <a:lstStyle>
            <a:lvl1pPr lvl="0" algn="l">
              <a:lnSpc>
                <a:spcPct val="90000"/>
              </a:lnSpc>
              <a:spcBef>
                <a:spcPts val="0"/>
              </a:spcBef>
              <a:spcAft>
                <a:spcPts val="0"/>
              </a:spcAft>
              <a:buSzPts val="1400"/>
              <a:buNone/>
              <a:defRPr sz="3600" b="0">
                <a:solidFill>
                  <a:schemeClr val="lt1"/>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0" name="Google Shape;110;p42"/>
          <p:cNvSpPr txBox="1">
            <a:spLocks noGrp="1"/>
          </p:cNvSpPr>
          <p:nvPr>
            <p:ph type="body" idx="2"/>
          </p:nvPr>
        </p:nvSpPr>
        <p:spPr>
          <a:xfrm>
            <a:off x="831035" y="67449"/>
            <a:ext cx="3998873" cy="5852160"/>
          </a:xfrm>
          <a:prstGeom prst="rect">
            <a:avLst/>
          </a:prstGeom>
          <a:solidFill>
            <a:srgbClr val="262626"/>
          </a:solidFill>
          <a:ln>
            <a:noFill/>
          </a:ln>
        </p:spPr>
        <p:txBody>
          <a:bodyPr spcFirstLastPara="1" wrap="square" lIns="360000" tIns="46800" rIns="360000" bIns="45700" anchor="ctr" anchorCtr="0">
            <a:normAutofit/>
          </a:bodyPr>
          <a:lstStyle>
            <a:lvl1pPr marL="457200" lvl="0" indent="-228600" algn="l">
              <a:spcBef>
                <a:spcPts val="1200"/>
              </a:spcBef>
              <a:spcAft>
                <a:spcPts val="0"/>
              </a:spcAft>
              <a:buSzPts val="2000"/>
              <a:buNone/>
              <a:defRPr>
                <a:solidFill>
                  <a:schemeClr val="lt1"/>
                </a:solidFill>
              </a:defRPr>
            </a:lvl1pPr>
            <a:lvl2pPr marL="914400" lvl="1" indent="-228600" algn="l">
              <a:spcBef>
                <a:spcPts val="200"/>
              </a:spcBef>
              <a:spcAft>
                <a:spcPts val="0"/>
              </a:spcAft>
              <a:buClr>
                <a:srgbClr val="404040"/>
              </a:buClr>
              <a:buSzPts val="1200"/>
              <a:buNone/>
              <a:defRPr sz="1200"/>
            </a:lvl2pPr>
            <a:lvl3pPr marL="1371600" lvl="2" indent="-228600" algn="l">
              <a:spcBef>
                <a:spcPts val="400"/>
              </a:spcBef>
              <a:spcAft>
                <a:spcPts val="0"/>
              </a:spcAft>
              <a:buClr>
                <a:srgbClr val="404040"/>
              </a:buClr>
              <a:buSzPts val="1000"/>
              <a:buNone/>
              <a:defRPr sz="1000"/>
            </a:lvl3pPr>
            <a:lvl4pPr marL="1828800" lvl="3" indent="-228600" algn="l">
              <a:spcBef>
                <a:spcPts val="400"/>
              </a:spcBef>
              <a:spcAft>
                <a:spcPts val="0"/>
              </a:spcAft>
              <a:buClr>
                <a:srgbClr val="404040"/>
              </a:buClr>
              <a:buSzPts val="900"/>
              <a:buNone/>
              <a:defRPr sz="900"/>
            </a:lvl4pPr>
            <a:lvl5pPr marL="2286000" lvl="4" indent="-228600" algn="l">
              <a:spcBef>
                <a:spcPts val="400"/>
              </a:spcBef>
              <a:spcAft>
                <a:spcPts val="0"/>
              </a:spcAft>
              <a:buClr>
                <a:srgbClr val="404040"/>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11" name="Google Shape;111;p42"/>
          <p:cNvSpPr txBox="1">
            <a:spLocks noGrp="1"/>
          </p:cNvSpPr>
          <p:nvPr>
            <p:ph type="ftr" idx="11"/>
          </p:nvPr>
        </p:nvSpPr>
        <p:spPr>
          <a:xfrm>
            <a:off x="3690938" y="6486525"/>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42"/>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3"/>
        <p:cNvGrpSpPr/>
        <p:nvPr/>
      </p:nvGrpSpPr>
      <p:grpSpPr>
        <a:xfrm>
          <a:off x="0" y="0"/>
          <a:ext cx="0" cy="0"/>
          <a:chOff x="0" y="0"/>
          <a:chExt cx="0" cy="0"/>
        </a:xfrm>
      </p:grpSpPr>
      <p:sp>
        <p:nvSpPr>
          <p:cNvPr id="114" name="Google Shape;114;p43"/>
          <p:cNvSpPr/>
          <p:nvPr/>
        </p:nvSpPr>
        <p:spPr>
          <a:xfrm>
            <a:off x="0" y="4578350"/>
            <a:ext cx="12188825" cy="2279650"/>
          </a:xfrm>
          <a:prstGeom prst="rect">
            <a:avLst/>
          </a:prstGeom>
          <a:solidFill>
            <a:srgbClr val="007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43"/>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lt1"/>
                </a:solidFill>
                <a:latin typeface="Calibri"/>
                <a:ea typeface="Calibri"/>
                <a:cs typeface="Calibri"/>
                <a:sym typeface="Calibri"/>
              </a:rPr>
              <a:t>© Kalasalingam academy of research and education</a:t>
            </a:r>
            <a:endParaRPr/>
          </a:p>
        </p:txBody>
      </p:sp>
      <p:sp>
        <p:nvSpPr>
          <p:cNvPr id="116" name="Google Shape;116;p43"/>
          <p:cNvSpPr>
            <a:spLocks noGrp="1"/>
          </p:cNvSpPr>
          <p:nvPr>
            <p:ph type="pic" idx="2"/>
          </p:nvPr>
        </p:nvSpPr>
        <p:spPr>
          <a:xfrm>
            <a:off x="15" y="0"/>
            <a:ext cx="12191985" cy="4578350"/>
          </a:xfrm>
          <a:prstGeom prst="rect">
            <a:avLst/>
          </a:prstGeom>
          <a:solidFill>
            <a:srgbClr val="D8D8D8"/>
          </a:solidFill>
          <a:ln>
            <a:noFill/>
          </a:ln>
        </p:spPr>
        <p:txBody>
          <a:bodyPr/>
          <a:lstStyle/>
          <a:p>
            <a:endParaRPr lang="en-IN"/>
          </a:p>
        </p:txBody>
      </p:sp>
      <p:sp>
        <p:nvSpPr>
          <p:cNvPr id="117" name="Google Shape;117;p43"/>
          <p:cNvSpPr txBox="1">
            <a:spLocks noGrp="1"/>
          </p:cNvSpPr>
          <p:nvPr>
            <p:ph type="title"/>
          </p:nvPr>
        </p:nvSpPr>
        <p:spPr>
          <a:xfrm>
            <a:off x="1097279" y="4799362"/>
            <a:ext cx="10113645" cy="743682"/>
          </a:xfrm>
          <a:prstGeom prst="rect">
            <a:avLst/>
          </a:prstGeom>
          <a:noFill/>
          <a:ln>
            <a:noFill/>
          </a:ln>
        </p:spPr>
        <p:txBody>
          <a:bodyPr spcFirstLastPara="1" wrap="square" lIns="91425" tIns="0" rIns="91425" bIns="0" anchor="b" anchorCtr="0">
            <a:noAutofit/>
          </a:bodyPr>
          <a:lstStyle>
            <a:lvl1pPr lvl="0" algn="l">
              <a:lnSpc>
                <a:spcPct val="90000"/>
              </a:lnSpc>
              <a:spcBef>
                <a:spcPts val="0"/>
              </a:spcBef>
              <a:spcAft>
                <a:spcPts val="0"/>
              </a:spcAft>
              <a:buSzPts val="1400"/>
              <a:buNone/>
              <a:defRPr sz="3600" b="0">
                <a:solidFill>
                  <a:srgbClr val="FFFFFF"/>
                </a:solidFill>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8" name="Google Shape;118;p43"/>
          <p:cNvSpPr txBox="1">
            <a:spLocks noGrp="1"/>
          </p:cNvSpPr>
          <p:nvPr>
            <p:ph type="body" idx="1"/>
          </p:nvPr>
        </p:nvSpPr>
        <p:spPr>
          <a:xfrm>
            <a:off x="1097279" y="5715000"/>
            <a:ext cx="10113264" cy="609600"/>
          </a:xfrm>
          <a:prstGeom prst="rect">
            <a:avLst/>
          </a:prstGeom>
          <a:noFill/>
          <a:ln>
            <a:noFill/>
          </a:ln>
        </p:spPr>
        <p:txBody>
          <a:bodyPr spcFirstLastPara="1" wrap="square" lIns="91425" tIns="0" rIns="91425" bIns="0" anchor="t" anchorCtr="0">
            <a:normAutofit/>
          </a:bodyPr>
          <a:lstStyle>
            <a:lvl1pPr marL="457200" lvl="0" indent="-228600" algn="l">
              <a:spcBef>
                <a:spcPts val="0"/>
              </a:spcBef>
              <a:spcAft>
                <a:spcPts val="0"/>
              </a:spcAft>
              <a:buSzPts val="1800"/>
              <a:buNone/>
              <a:defRPr sz="1800">
                <a:solidFill>
                  <a:srgbClr val="B0B0F3"/>
                </a:solidFill>
              </a:defRPr>
            </a:lvl1pPr>
            <a:lvl2pPr marL="914400" lvl="1" indent="-228600" algn="l">
              <a:spcBef>
                <a:spcPts val="600"/>
              </a:spcBef>
              <a:spcAft>
                <a:spcPts val="0"/>
              </a:spcAft>
              <a:buClr>
                <a:srgbClr val="404040"/>
              </a:buClr>
              <a:buSzPts val="1200"/>
              <a:buNone/>
              <a:defRPr sz="1200"/>
            </a:lvl2pPr>
            <a:lvl3pPr marL="1371600" lvl="2" indent="-228600" algn="l">
              <a:spcBef>
                <a:spcPts val="400"/>
              </a:spcBef>
              <a:spcAft>
                <a:spcPts val="0"/>
              </a:spcAft>
              <a:buClr>
                <a:srgbClr val="404040"/>
              </a:buClr>
              <a:buSzPts val="1000"/>
              <a:buNone/>
              <a:defRPr sz="1000"/>
            </a:lvl3pPr>
            <a:lvl4pPr marL="1828800" lvl="3" indent="-228600" algn="l">
              <a:spcBef>
                <a:spcPts val="400"/>
              </a:spcBef>
              <a:spcAft>
                <a:spcPts val="0"/>
              </a:spcAft>
              <a:buClr>
                <a:srgbClr val="404040"/>
              </a:buClr>
              <a:buSzPts val="900"/>
              <a:buNone/>
              <a:defRPr sz="900"/>
            </a:lvl4pPr>
            <a:lvl5pPr marL="2286000" lvl="4" indent="-228600" algn="l">
              <a:spcBef>
                <a:spcPts val="400"/>
              </a:spcBef>
              <a:spcAft>
                <a:spcPts val="0"/>
              </a:spcAft>
              <a:buClr>
                <a:srgbClr val="404040"/>
              </a:buClr>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119" name="Google Shape;119;p43"/>
          <p:cNvSpPr txBox="1">
            <a:spLocks noGrp="1"/>
          </p:cNvSpPr>
          <p:nvPr>
            <p:ph type="ftr" idx="11"/>
          </p:nvPr>
        </p:nvSpPr>
        <p:spPr>
          <a:xfrm>
            <a:off x="3694113" y="6446838"/>
            <a:ext cx="68183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43"/>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000">
                <a:solidFill>
                  <a:srgbClr val="FFFFFF"/>
                </a:solidFill>
                <a:latin typeface="Calibri"/>
                <a:ea typeface="Calibri"/>
                <a:cs typeface="Calibri"/>
                <a:sym typeface="Calibri"/>
              </a:defRPr>
            </a:lvl1pPr>
            <a:lvl2pPr marL="0" marR="0" lvl="1" indent="0" algn="r">
              <a:spcBef>
                <a:spcPts val="0"/>
              </a:spcBef>
              <a:buNone/>
              <a:defRPr sz="1000">
                <a:solidFill>
                  <a:srgbClr val="FFFFFF"/>
                </a:solidFill>
                <a:latin typeface="Calibri"/>
                <a:ea typeface="Calibri"/>
                <a:cs typeface="Calibri"/>
                <a:sym typeface="Calibri"/>
              </a:defRPr>
            </a:lvl2pPr>
            <a:lvl3pPr marL="0" marR="0" lvl="2" indent="0" algn="r">
              <a:spcBef>
                <a:spcPts val="0"/>
              </a:spcBef>
              <a:buNone/>
              <a:defRPr sz="1000">
                <a:solidFill>
                  <a:srgbClr val="FFFFFF"/>
                </a:solidFill>
                <a:latin typeface="Calibri"/>
                <a:ea typeface="Calibri"/>
                <a:cs typeface="Calibri"/>
                <a:sym typeface="Calibri"/>
              </a:defRPr>
            </a:lvl3pPr>
            <a:lvl4pPr marL="0" marR="0" lvl="3" indent="0" algn="r">
              <a:spcBef>
                <a:spcPts val="0"/>
              </a:spcBef>
              <a:buNone/>
              <a:defRPr sz="1000">
                <a:solidFill>
                  <a:srgbClr val="FFFFFF"/>
                </a:solidFill>
                <a:latin typeface="Calibri"/>
                <a:ea typeface="Calibri"/>
                <a:cs typeface="Calibri"/>
                <a:sym typeface="Calibri"/>
              </a:defRPr>
            </a:lvl4pPr>
            <a:lvl5pPr marL="0" marR="0" lvl="4" indent="0" algn="r">
              <a:spcBef>
                <a:spcPts val="0"/>
              </a:spcBef>
              <a:buNone/>
              <a:defRPr sz="1000">
                <a:solidFill>
                  <a:srgbClr val="FFFFFF"/>
                </a:solidFill>
                <a:latin typeface="Calibri"/>
                <a:ea typeface="Calibri"/>
                <a:cs typeface="Calibri"/>
                <a:sym typeface="Calibri"/>
              </a:defRPr>
            </a:lvl5pPr>
            <a:lvl6pPr marL="0" marR="0" lvl="5" indent="0" algn="r">
              <a:spcBef>
                <a:spcPts val="0"/>
              </a:spcBef>
              <a:buNone/>
              <a:defRPr sz="1000">
                <a:solidFill>
                  <a:srgbClr val="FFFFFF"/>
                </a:solidFill>
                <a:latin typeface="Calibri"/>
                <a:ea typeface="Calibri"/>
                <a:cs typeface="Calibri"/>
                <a:sym typeface="Calibri"/>
              </a:defRPr>
            </a:lvl6pPr>
            <a:lvl7pPr marL="0" marR="0" lvl="6" indent="0" algn="r">
              <a:spcBef>
                <a:spcPts val="0"/>
              </a:spcBef>
              <a:buNone/>
              <a:defRPr sz="1000">
                <a:solidFill>
                  <a:srgbClr val="FFFFFF"/>
                </a:solidFill>
                <a:latin typeface="Calibri"/>
                <a:ea typeface="Calibri"/>
                <a:cs typeface="Calibri"/>
                <a:sym typeface="Calibri"/>
              </a:defRPr>
            </a:lvl7pPr>
            <a:lvl8pPr marL="0" marR="0" lvl="7" indent="0" algn="r">
              <a:spcBef>
                <a:spcPts val="0"/>
              </a:spcBef>
              <a:buNone/>
              <a:defRPr sz="1000">
                <a:solidFill>
                  <a:srgbClr val="FFFFFF"/>
                </a:solidFill>
                <a:latin typeface="Calibri"/>
                <a:ea typeface="Calibri"/>
                <a:cs typeface="Calibri"/>
                <a:sym typeface="Calibri"/>
              </a:defRPr>
            </a:lvl8pPr>
            <a:lvl9pPr marL="0" marR="0" lvl="8" indent="0" algn="r">
              <a:spcBef>
                <a:spcPts val="0"/>
              </a:spcBef>
              <a:buNone/>
              <a:defRPr sz="100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p:nvPr/>
        </p:nvSpPr>
        <p:spPr>
          <a:xfrm>
            <a:off x="-12700" y="6400800"/>
            <a:ext cx="12165013" cy="457200"/>
          </a:xfrm>
          <a:prstGeom prst="rect">
            <a:avLst/>
          </a:prstGeom>
          <a:solidFill>
            <a:srgbClr val="0070C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 name="Google Shape;11;p30"/>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lvl1pPr marR="0" lvl="0"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1pPr>
            <a:lvl2pPr marR="0" lvl="1"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2pPr>
            <a:lvl3pPr marR="0" lvl="2"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3pPr>
            <a:lvl4pPr marR="0" lvl="3"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4pPr>
            <a:lvl5pPr marR="0" lvl="4"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5pPr>
            <a:lvl6pPr marR="0" lvl="5"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6pPr>
            <a:lvl7pPr marR="0" lvl="6"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7pPr>
            <a:lvl8pPr marR="0" lvl="7"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8pPr>
            <a:lvl9pPr marR="0" lvl="8" algn="l" rtl="0">
              <a:lnSpc>
                <a:spcPct val="90000"/>
              </a:lnSpc>
              <a:spcBef>
                <a:spcPts val="0"/>
              </a:spcBef>
              <a:spcAft>
                <a:spcPts val="0"/>
              </a:spcAft>
              <a:buSzPts val="1400"/>
              <a:buNone/>
              <a:defRPr sz="3600" b="0" i="0" u="none" strike="noStrike" cap="none">
                <a:solidFill>
                  <a:srgbClr val="404040"/>
                </a:solidFill>
                <a:latin typeface="Calibri"/>
                <a:ea typeface="Calibri"/>
                <a:cs typeface="Calibri"/>
                <a:sym typeface="Calibri"/>
              </a:defRPr>
            </a:lvl9pPr>
          </a:lstStyle>
          <a:p>
            <a:endParaRPr/>
          </a:p>
        </p:txBody>
      </p:sp>
      <p:sp>
        <p:nvSpPr>
          <p:cNvPr id="12" name="Google Shape;12;p30"/>
          <p:cNvSpPr txBox="1">
            <a:spLocks noGrp="1"/>
          </p:cNvSpPr>
          <p:nvPr>
            <p:ph type="body" idx="1"/>
          </p:nvPr>
        </p:nvSpPr>
        <p:spPr>
          <a:xfrm>
            <a:off x="1096963" y="2108200"/>
            <a:ext cx="10058400" cy="3760788"/>
          </a:xfrm>
          <a:prstGeom prst="rect">
            <a:avLst/>
          </a:prstGeom>
          <a:noFill/>
          <a:ln>
            <a:noFill/>
          </a:ln>
        </p:spPr>
        <p:txBody>
          <a:bodyPr spcFirstLastPara="1" wrap="square" lIns="0" tIns="45700" rIns="0" bIns="45700" anchor="t" anchorCtr="0">
            <a:noAutofit/>
          </a:bodyPr>
          <a:lstStyle>
            <a:lvl1pPr marL="457200" marR="0" lvl="0" indent="-355600" algn="l" rtl="0">
              <a:spcBef>
                <a:spcPts val="1200"/>
              </a:spcBef>
              <a:spcAft>
                <a:spcPts val="0"/>
              </a:spcAft>
              <a:buClr>
                <a:schemeClr val="accent1"/>
              </a:buClr>
              <a:buSzPts val="2000"/>
              <a:buFont typeface="Calibri"/>
              <a:buChar char=" "/>
              <a:defRPr sz="2000" b="0" i="0" u="none" strike="noStrike" cap="none">
                <a:solidFill>
                  <a:srgbClr val="404040"/>
                </a:solidFill>
                <a:latin typeface="Calibri"/>
                <a:ea typeface="Calibri"/>
                <a:cs typeface="Calibri"/>
                <a:sym typeface="Calibri"/>
              </a:defRPr>
            </a:lvl1pPr>
            <a:lvl2pPr marL="914400" marR="0" lvl="1" indent="-406400" algn="l" rtl="0">
              <a:spcBef>
                <a:spcPts val="200"/>
              </a:spcBef>
              <a:spcAft>
                <a:spcPts val="0"/>
              </a:spcAft>
              <a:buClr>
                <a:srgbClr val="404040"/>
              </a:buClr>
              <a:buSzPts val="2800"/>
              <a:buFont typeface="Calibri"/>
              <a:buChar char="◦"/>
              <a:defRPr sz="2800" b="0" i="0" u="none" strike="noStrike" cap="none">
                <a:solidFill>
                  <a:srgbClr val="404040"/>
                </a:solidFill>
                <a:latin typeface="Calibri"/>
                <a:ea typeface="Calibri"/>
                <a:cs typeface="Calibri"/>
                <a:sym typeface="Calibri"/>
              </a:defRPr>
            </a:lvl2pPr>
            <a:lvl3pPr marL="1371600" marR="0" lvl="2" indent="-317500" algn="l" rtl="0">
              <a:spcBef>
                <a:spcPts val="400"/>
              </a:spcBef>
              <a:spcAft>
                <a:spcPts val="0"/>
              </a:spcAft>
              <a:buClr>
                <a:srgbClr val="404040"/>
              </a:buClr>
              <a:buSzPts val="1400"/>
              <a:buFont typeface="Calibri"/>
              <a:buChar char="◦"/>
              <a:defRPr sz="1400" b="0" i="0" u="none" strike="noStrike" cap="none">
                <a:solidFill>
                  <a:srgbClr val="404040"/>
                </a:solidFill>
                <a:latin typeface="Calibri"/>
                <a:ea typeface="Calibri"/>
                <a:cs typeface="Calibri"/>
                <a:sym typeface="Calibri"/>
              </a:defRPr>
            </a:lvl3pPr>
            <a:lvl4pPr marL="1828800" marR="0" lvl="3" indent="-317500" algn="l" rtl="0">
              <a:spcBef>
                <a:spcPts val="400"/>
              </a:spcBef>
              <a:spcAft>
                <a:spcPts val="0"/>
              </a:spcAft>
              <a:buClr>
                <a:srgbClr val="404040"/>
              </a:buClr>
              <a:buSzPts val="1400"/>
              <a:buFont typeface="Calibri"/>
              <a:buChar char="◦"/>
              <a:defRPr sz="1400" b="0" i="0" u="none" strike="noStrike" cap="none">
                <a:solidFill>
                  <a:srgbClr val="404040"/>
                </a:solidFill>
                <a:latin typeface="Calibri"/>
                <a:ea typeface="Calibri"/>
                <a:cs typeface="Calibri"/>
                <a:sym typeface="Calibri"/>
              </a:defRPr>
            </a:lvl4pPr>
            <a:lvl5pPr marL="2286000" marR="0" lvl="4" indent="-317500" algn="l" rtl="0">
              <a:spcBef>
                <a:spcPts val="400"/>
              </a:spcBef>
              <a:spcAft>
                <a:spcPts val="0"/>
              </a:spcAft>
              <a:buClr>
                <a:srgbClr val="404040"/>
              </a:buClr>
              <a:buSzPts val="1400"/>
              <a:buFont typeface="Calibri"/>
              <a:buChar char="◦"/>
              <a:defRPr sz="1400" b="0" i="0" u="none" strike="noStrike" cap="none">
                <a:solidFill>
                  <a:srgbClr val="404040"/>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3" name="Google Shape;13;p30"/>
          <p:cNvSpPr txBox="1">
            <a:spLocks noGrp="1"/>
          </p:cNvSpPr>
          <p:nvPr>
            <p:ph type="ftr" idx="11"/>
          </p:nvPr>
        </p:nvSpPr>
        <p:spPr>
          <a:xfrm>
            <a:off x="3468688" y="6473825"/>
            <a:ext cx="68183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0"/>
          <p:cNvSpPr txBox="1">
            <a:spLocks noGrp="1"/>
          </p:cNvSpPr>
          <p:nvPr>
            <p:ph type="sldNum" idx="12"/>
          </p:nvPr>
        </p:nvSpPr>
        <p:spPr>
          <a:xfrm>
            <a:off x="10929938" y="6446838"/>
            <a:ext cx="6191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rgbClr val="FFFFFF"/>
                </a:solidFill>
                <a:latin typeface="Calibri"/>
                <a:ea typeface="Calibri"/>
                <a:cs typeface="Calibri"/>
                <a:sym typeface="Calibri"/>
              </a:defRPr>
            </a:lvl1pPr>
            <a:lvl2pPr marL="0" marR="0" lvl="1" indent="0" algn="r" rtl="0">
              <a:spcBef>
                <a:spcPts val="0"/>
              </a:spcBef>
              <a:buNone/>
              <a:defRPr sz="1000" b="0" i="0" u="none" strike="noStrike" cap="none">
                <a:solidFill>
                  <a:srgbClr val="FFFFFF"/>
                </a:solidFill>
                <a:latin typeface="Calibri"/>
                <a:ea typeface="Calibri"/>
                <a:cs typeface="Calibri"/>
                <a:sym typeface="Calibri"/>
              </a:defRPr>
            </a:lvl2pPr>
            <a:lvl3pPr marL="0" marR="0" lvl="2" indent="0" algn="r" rtl="0">
              <a:spcBef>
                <a:spcPts val="0"/>
              </a:spcBef>
              <a:buNone/>
              <a:defRPr sz="1000" b="0" i="0" u="none" strike="noStrike" cap="none">
                <a:solidFill>
                  <a:srgbClr val="FFFFFF"/>
                </a:solidFill>
                <a:latin typeface="Calibri"/>
                <a:ea typeface="Calibri"/>
                <a:cs typeface="Calibri"/>
                <a:sym typeface="Calibri"/>
              </a:defRPr>
            </a:lvl3pPr>
            <a:lvl4pPr marL="0" marR="0" lvl="3" indent="0" algn="r" rtl="0">
              <a:spcBef>
                <a:spcPts val="0"/>
              </a:spcBef>
              <a:buNone/>
              <a:defRPr sz="1000" b="0" i="0" u="none" strike="noStrike" cap="none">
                <a:solidFill>
                  <a:srgbClr val="FFFFFF"/>
                </a:solidFill>
                <a:latin typeface="Calibri"/>
                <a:ea typeface="Calibri"/>
                <a:cs typeface="Calibri"/>
                <a:sym typeface="Calibri"/>
              </a:defRPr>
            </a:lvl4pPr>
            <a:lvl5pPr marL="0" marR="0" lvl="4" indent="0" algn="r" rtl="0">
              <a:spcBef>
                <a:spcPts val="0"/>
              </a:spcBef>
              <a:buNone/>
              <a:defRPr sz="1000" b="0" i="0" u="none" strike="noStrike" cap="none">
                <a:solidFill>
                  <a:srgbClr val="FFFFFF"/>
                </a:solidFill>
                <a:latin typeface="Calibri"/>
                <a:ea typeface="Calibri"/>
                <a:cs typeface="Calibri"/>
                <a:sym typeface="Calibri"/>
              </a:defRPr>
            </a:lvl5pPr>
            <a:lvl6pPr marL="0" marR="0" lvl="5" indent="0" algn="r" rtl="0">
              <a:spcBef>
                <a:spcPts val="0"/>
              </a:spcBef>
              <a:buNone/>
              <a:defRPr sz="1000" b="0" i="0" u="none" strike="noStrike" cap="none">
                <a:solidFill>
                  <a:srgbClr val="FFFFFF"/>
                </a:solidFill>
                <a:latin typeface="Calibri"/>
                <a:ea typeface="Calibri"/>
                <a:cs typeface="Calibri"/>
                <a:sym typeface="Calibri"/>
              </a:defRPr>
            </a:lvl6pPr>
            <a:lvl7pPr marL="0" marR="0" lvl="6" indent="0" algn="r" rtl="0">
              <a:spcBef>
                <a:spcPts val="0"/>
              </a:spcBef>
              <a:buNone/>
              <a:defRPr sz="1000" b="0" i="0" u="none" strike="noStrike" cap="none">
                <a:solidFill>
                  <a:srgbClr val="FFFFFF"/>
                </a:solidFill>
                <a:latin typeface="Calibri"/>
                <a:ea typeface="Calibri"/>
                <a:cs typeface="Calibri"/>
                <a:sym typeface="Calibri"/>
              </a:defRPr>
            </a:lvl7pPr>
            <a:lvl8pPr marL="0" marR="0" lvl="7" indent="0" algn="r" rtl="0">
              <a:spcBef>
                <a:spcPts val="0"/>
              </a:spcBef>
              <a:buNone/>
              <a:defRPr sz="1000" b="0" i="0" u="none" strike="noStrike" cap="none">
                <a:solidFill>
                  <a:srgbClr val="FFFFFF"/>
                </a:solidFill>
                <a:latin typeface="Calibri"/>
                <a:ea typeface="Calibri"/>
                <a:cs typeface="Calibri"/>
                <a:sym typeface="Calibri"/>
              </a:defRPr>
            </a:lvl8pPr>
            <a:lvl9pPr marL="0" marR="0" lvl="8" indent="0" algn="r" rtl="0">
              <a:spcBef>
                <a:spcPts val="0"/>
              </a:spcBef>
              <a:buNone/>
              <a:defRPr sz="100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5" name="Google Shape;15;p30"/>
          <p:cNvCxnSpPr/>
          <p:nvPr/>
        </p:nvCxnSpPr>
        <p:spPr>
          <a:xfrm>
            <a:off x="1193800" y="1897063"/>
            <a:ext cx="9966325" cy="0"/>
          </a:xfrm>
          <a:prstGeom prst="straightConnector1">
            <a:avLst/>
          </a:prstGeom>
          <a:noFill/>
          <a:ln w="12700" cap="flat" cmpd="sng">
            <a:solidFill>
              <a:srgbClr val="00B0F0"/>
            </a:solidFill>
            <a:prstDash val="solid"/>
            <a:round/>
            <a:headEnd type="none" w="sm" len="sm"/>
            <a:tailEnd type="none" w="sm" len="sm"/>
          </a:ln>
        </p:spPr>
      </p:cxnSp>
      <p:pic>
        <p:nvPicPr>
          <p:cNvPr id="16" name="Google Shape;16;p30" descr="Kalasalingam Academy of Research and Education - Wikipedia"/>
          <p:cNvPicPr preferRelativeResize="0"/>
          <p:nvPr/>
        </p:nvPicPr>
        <p:blipFill rotWithShape="1">
          <a:blip r:embed="rId12">
            <a:alphaModFix/>
          </a:blip>
          <a:srcRect/>
          <a:stretch/>
        </p:blipFill>
        <p:spPr>
          <a:xfrm>
            <a:off x="10826750" y="53975"/>
            <a:ext cx="1323975" cy="1209675"/>
          </a:xfrm>
          <a:prstGeom prst="rect">
            <a:avLst/>
          </a:prstGeom>
          <a:noFill/>
          <a:ln>
            <a:noFill/>
          </a:ln>
        </p:spPr>
      </p:pic>
      <p:sp>
        <p:nvSpPr>
          <p:cNvPr id="17" name="Google Shape;17;p30"/>
          <p:cNvSpPr txBox="1"/>
          <p:nvPr/>
        </p:nvSpPr>
        <p:spPr>
          <a:xfrm>
            <a:off x="-12700" y="6537325"/>
            <a:ext cx="3073400" cy="2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b="0" i="0" u="none" strike="noStrike" cap="none">
                <a:solidFill>
                  <a:schemeClr val="lt1"/>
                </a:solidFill>
                <a:latin typeface="Calibri"/>
                <a:ea typeface="Calibri"/>
                <a:cs typeface="Calibri"/>
                <a:sym typeface="Calibri"/>
              </a:rPr>
              <a:t>© Kalasalingam academy of research and education</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8" r:id="rId7"/>
    <p:sldLayoutId id="2147483659" r:id="rId8"/>
    <p:sldLayoutId id="2147483660" r:id="rId9"/>
    <p:sldLayoutId id="214748366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
          <p:cNvSpPr txBox="1">
            <a:spLocks noGrp="1"/>
          </p:cNvSpPr>
          <p:nvPr>
            <p:ph type="ftr" idx="11"/>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p>
            <a:pPr lvl="0"/>
            <a:r>
              <a:rPr lang="en-US" dirty="0">
                <a:solidFill>
                  <a:schemeClr val="bg1"/>
                </a:solidFill>
              </a:rPr>
              <a:t>SCHOOL OF ELECTRONICS, ELECTRICAL AND BIOMEDICAL TECHNOLOGY             DEPARTMENT OF BIOMEDICAL ENGINEERING                    215BME4265 – Capstone Project </a:t>
            </a:r>
          </a:p>
        </p:txBody>
      </p:sp>
      <p:sp>
        <p:nvSpPr>
          <p:cNvPr id="126" name="Google Shape;126;p1"/>
          <p:cNvSpPr txBox="1">
            <a:spLocks noGrp="1"/>
          </p:cNvSpPr>
          <p:nvPr>
            <p:ph type="title"/>
          </p:nvPr>
        </p:nvSpPr>
        <p:spPr>
          <a:xfrm>
            <a:off x="762000" y="304800"/>
            <a:ext cx="10058400" cy="1450975"/>
          </a:xfrm>
          <a:prstGeom prst="rect">
            <a:avLst/>
          </a:prstGeom>
          <a:noFill/>
          <a:ln>
            <a:noFill/>
          </a:ln>
        </p:spPr>
        <p:txBody>
          <a:bodyPr spcFirstLastPara="1" wrap="square" lIns="91425" tIns="45700" rIns="91425" bIns="45700" anchor="ctr" anchorCtr="0">
            <a:normAutofit/>
          </a:bodyPr>
          <a:lstStyle/>
          <a:p>
            <a:pPr lvl="0" algn="ctr"/>
            <a:r>
              <a:rPr lang="en-US" b="1" dirty="0">
                <a:latin typeface="Times New Roman" panose="02020603050405020304" pitchFamily="18" charset="0"/>
                <a:cs typeface="Times New Roman" panose="02020603050405020304" pitchFamily="18" charset="0"/>
              </a:rPr>
              <a:t>WEB BASED E-WASTE AND BATTERY LIFECYCLE MANAGEMENT SYSTEM </a:t>
            </a:r>
          </a:p>
        </p:txBody>
      </p:sp>
      <p:sp>
        <p:nvSpPr>
          <p:cNvPr id="127" name="Google Shape;127;p1"/>
          <p:cNvSpPr txBox="1">
            <a:spLocks noGrp="1"/>
          </p:cNvSpPr>
          <p:nvPr>
            <p:ph type="body" idx="1"/>
          </p:nvPr>
        </p:nvSpPr>
        <p:spPr>
          <a:xfrm>
            <a:off x="6256595" y="1935164"/>
            <a:ext cx="4678363" cy="3749675"/>
          </a:xfrm>
          <a:prstGeom prst="rect">
            <a:avLst/>
          </a:prstGeom>
          <a:noFill/>
          <a:ln>
            <a:noFill/>
          </a:ln>
        </p:spPr>
        <p:txBody>
          <a:bodyPr spcFirstLastPara="1" wrap="square" lIns="0" tIns="45700" rIns="0" bIns="45700" anchor="t" anchorCtr="0">
            <a:normAutofit/>
          </a:bodyPr>
          <a:lstStyle/>
          <a:p>
            <a:pPr marL="90488" lvl="0" indent="0" algn="l" rtl="0">
              <a:spcBef>
                <a:spcPts val="0"/>
              </a:spcBef>
              <a:spcAft>
                <a:spcPts val="0"/>
              </a:spcAft>
              <a:buSzPts val="2000"/>
              <a:buNone/>
            </a:pPr>
            <a:endParaRPr dirty="0">
              <a:latin typeface="Times New Roman"/>
              <a:ea typeface="Times New Roman"/>
              <a:cs typeface="Times New Roman"/>
              <a:sym typeface="Times New Roman"/>
            </a:endParaRPr>
          </a:p>
          <a:p>
            <a:pPr marL="90488" lvl="0" indent="0" algn="l" rtl="0">
              <a:spcBef>
                <a:spcPts val="1400"/>
              </a:spcBef>
              <a:spcAft>
                <a:spcPts val="0"/>
              </a:spcAft>
              <a:buSzPts val="2000"/>
              <a:buNone/>
            </a:pPr>
            <a:endParaRPr lang="en-IN" dirty="0"/>
          </a:p>
          <a:p>
            <a:pPr marL="90488" lvl="0" indent="0" algn="l" rtl="0">
              <a:spcBef>
                <a:spcPts val="1400"/>
              </a:spcBef>
              <a:spcAft>
                <a:spcPts val="0"/>
              </a:spcAft>
              <a:buSzPts val="2000"/>
              <a:buNone/>
            </a:pPr>
            <a:endParaRPr lang="en-IN" dirty="0"/>
          </a:p>
          <a:p>
            <a:pPr marL="90488" lvl="0" indent="0" algn="l" rtl="0">
              <a:spcBef>
                <a:spcPts val="1400"/>
              </a:spcBef>
              <a:spcAft>
                <a:spcPts val="0"/>
              </a:spcAft>
              <a:buSzPts val="2000"/>
              <a:buNone/>
            </a:pPr>
            <a:endParaRPr lang="en-IN" dirty="0"/>
          </a:p>
          <a:p>
            <a:pPr marL="90488" lvl="0" indent="0" algn="l" rtl="0">
              <a:spcBef>
                <a:spcPts val="1400"/>
              </a:spcBef>
              <a:spcAft>
                <a:spcPts val="0"/>
              </a:spcAft>
              <a:buSzPts val="2000"/>
              <a:buNone/>
            </a:pPr>
            <a:endParaRPr lang="en-IN" dirty="0"/>
          </a:p>
          <a:p>
            <a:pPr marL="90488" lvl="0" indent="0" algn="l" rtl="0">
              <a:spcBef>
                <a:spcPts val="1400"/>
              </a:spcBef>
              <a:spcAft>
                <a:spcPts val="0"/>
              </a:spcAft>
              <a:buSzPts val="2000"/>
              <a:buNone/>
            </a:pPr>
            <a:r>
              <a:rPr lang="en-IN" dirty="0">
                <a:latin typeface="Times New Roman" panose="02020603050405020304" pitchFamily="18" charset="0"/>
                <a:cs typeface="Times New Roman" panose="02020603050405020304" pitchFamily="18" charset="0"/>
              </a:rPr>
              <a:t> </a:t>
            </a:r>
            <a:endParaRPr dirty="0"/>
          </a:p>
        </p:txBody>
      </p:sp>
      <p:sp>
        <p:nvSpPr>
          <p:cNvPr id="128" name="Google Shape;128;p1"/>
          <p:cNvSpPr txBox="1"/>
          <p:nvPr/>
        </p:nvSpPr>
        <p:spPr>
          <a:xfrm>
            <a:off x="-390899" y="5148321"/>
            <a:ext cx="5936673" cy="15080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b="1" i="0" u="none" strike="noStrike" cap="none" dirty="0">
                <a:solidFill>
                  <a:schemeClr val="dk1"/>
                </a:solidFill>
                <a:latin typeface="Times New Roman"/>
                <a:ea typeface="Times New Roman"/>
                <a:cs typeface="Times New Roman"/>
                <a:sym typeface="Times New Roman"/>
              </a:rPr>
              <a:t>Gu</a:t>
            </a:r>
            <a:r>
              <a:rPr lang="en-IN" sz="1800" b="1" dirty="0">
                <a:solidFill>
                  <a:schemeClr val="dk1"/>
                </a:solidFill>
                <a:latin typeface="Times New Roman"/>
                <a:ea typeface="Times New Roman"/>
                <a:cs typeface="Times New Roman"/>
                <a:sym typeface="Times New Roman"/>
              </a:rPr>
              <a:t>ided By</a:t>
            </a:r>
            <a:r>
              <a:rPr lang="en-IN" sz="1800" dirty="0">
                <a:solidFill>
                  <a:schemeClr val="dk1"/>
                </a:solidFill>
                <a:latin typeface="Times New Roman"/>
                <a:ea typeface="Times New Roman"/>
                <a:cs typeface="Times New Roman"/>
                <a:sym typeface="Times New Roman"/>
              </a:rPr>
              <a:t/>
            </a:r>
            <a:br>
              <a:rPr lang="en-IN" sz="1800" dirty="0">
                <a:solidFill>
                  <a:schemeClr val="dk1"/>
                </a:solidFill>
                <a:latin typeface="Times New Roman"/>
                <a:ea typeface="Times New Roman"/>
                <a:cs typeface="Times New Roman"/>
                <a:sym typeface="Times New Roman"/>
              </a:rPr>
            </a:br>
            <a:r>
              <a:rPr lang="en-IN" sz="1800" dirty="0">
                <a:solidFill>
                  <a:schemeClr val="dk1"/>
                </a:solidFill>
                <a:latin typeface="Times New Roman"/>
                <a:ea typeface="Times New Roman"/>
                <a:cs typeface="Times New Roman"/>
                <a:sym typeface="Times New Roman"/>
              </a:rPr>
              <a:t>Mrs.S.Shanmugapriya</a:t>
            </a:r>
            <a:br>
              <a:rPr lang="en-IN" sz="1800" dirty="0">
                <a:solidFill>
                  <a:schemeClr val="dk1"/>
                </a:solidFill>
                <a:latin typeface="Times New Roman"/>
                <a:ea typeface="Times New Roman"/>
                <a:cs typeface="Times New Roman"/>
                <a:sym typeface="Times New Roman"/>
              </a:rPr>
            </a:br>
            <a:r>
              <a:rPr lang="en-IN" sz="1800" dirty="0">
                <a:solidFill>
                  <a:schemeClr val="dk1"/>
                </a:solidFill>
                <a:latin typeface="Times New Roman"/>
                <a:ea typeface="Times New Roman"/>
                <a:cs typeface="Times New Roman"/>
                <a:sym typeface="Times New Roman"/>
              </a:rPr>
              <a:t>Assistant Professor</a:t>
            </a:r>
            <a:br>
              <a:rPr lang="en-IN" sz="1800" dirty="0">
                <a:solidFill>
                  <a:schemeClr val="dk1"/>
                </a:solidFill>
                <a:latin typeface="Times New Roman"/>
                <a:ea typeface="Times New Roman"/>
                <a:cs typeface="Times New Roman"/>
                <a:sym typeface="Times New Roman"/>
              </a:rPr>
            </a:br>
            <a:r>
              <a:rPr lang="en-IN" sz="1800" dirty="0">
                <a:solidFill>
                  <a:schemeClr val="dk1"/>
                </a:solidFill>
                <a:latin typeface="Times New Roman"/>
                <a:ea typeface="Times New Roman"/>
                <a:cs typeface="Times New Roman"/>
                <a:sym typeface="Times New Roman"/>
              </a:rPr>
              <a:t>Department of Biomedical Engineering</a:t>
            </a:r>
          </a:p>
          <a:p>
            <a:pPr marL="0" marR="0" lvl="0" indent="0" algn="ctr" rtl="0">
              <a:spcBef>
                <a:spcPts val="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p:txBody>
      </p:sp>
      <p:pic>
        <p:nvPicPr>
          <p:cNvPr id="1036" name="Picture 12" descr="9 INDUSTRY, INNOVATION AND INFRASTRUCTURE">
            <a:extLst>
              <a:ext uri="{FF2B5EF4-FFF2-40B4-BE49-F238E27FC236}">
                <a16:creationId xmlns="" xmlns:a16="http://schemas.microsoft.com/office/drawing/2014/main" id="{71D549C2-D0B0-291D-4272-29BE79A131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14637" y="4448726"/>
            <a:ext cx="1767348" cy="17673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 xmlns:a16="http://schemas.microsoft.com/office/drawing/2014/main" id="{5CA0BFA0-58F2-9698-B257-AB0EBCCB2582}"/>
              </a:ext>
            </a:extLst>
          </p:cNvPr>
          <p:cNvPicPr>
            <a:picLocks noChangeAspect="1"/>
          </p:cNvPicPr>
          <p:nvPr/>
        </p:nvPicPr>
        <p:blipFill>
          <a:blip r:embed="rId4"/>
          <a:stretch>
            <a:fillRect/>
          </a:stretch>
        </p:blipFill>
        <p:spPr>
          <a:xfrm>
            <a:off x="8472991" y="13814097"/>
            <a:ext cx="233075" cy="209251"/>
          </a:xfrm>
          <a:prstGeom prst="rect">
            <a:avLst/>
          </a:prstGeom>
        </p:spPr>
      </p:pic>
      <p:pic>
        <p:nvPicPr>
          <p:cNvPr id="1038" name="Picture 14" descr="SDG11: Sustainable Cities and Communities - KISS Deemed to be University">
            <a:extLst>
              <a:ext uri="{FF2B5EF4-FFF2-40B4-BE49-F238E27FC236}">
                <a16:creationId xmlns="" xmlns:a16="http://schemas.microsoft.com/office/drawing/2014/main" id="{E9F4681A-3BEC-0756-A6FE-43637BE135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93619" y="4448726"/>
            <a:ext cx="1573878" cy="157387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 xmlns:a16="http://schemas.microsoft.com/office/drawing/2014/main" id="{5250F869-4CD7-3C84-D0F2-9444102615A0}"/>
              </a:ext>
            </a:extLst>
          </p:cNvPr>
          <p:cNvPicPr>
            <a:picLocks noChangeAspect="1"/>
          </p:cNvPicPr>
          <p:nvPr/>
        </p:nvPicPr>
        <p:blipFill>
          <a:blip r:embed="rId6"/>
          <a:stretch>
            <a:fillRect/>
          </a:stretch>
        </p:blipFill>
        <p:spPr>
          <a:xfrm>
            <a:off x="5765824" y="3480885"/>
            <a:ext cx="5410955" cy="838317"/>
          </a:xfrm>
          <a:prstGeom prst="rect">
            <a:avLst/>
          </a:prstGeom>
        </p:spPr>
      </p:pic>
      <p:sp>
        <p:nvSpPr>
          <p:cNvPr id="8" name="TextBox 7">
            <a:extLst>
              <a:ext uri="{FF2B5EF4-FFF2-40B4-BE49-F238E27FC236}">
                <a16:creationId xmlns="" xmlns:a16="http://schemas.microsoft.com/office/drawing/2014/main" id="{E4BCCF3F-E4E2-8B32-AD59-F253F98BF202}"/>
              </a:ext>
            </a:extLst>
          </p:cNvPr>
          <p:cNvSpPr txBox="1"/>
          <p:nvPr/>
        </p:nvSpPr>
        <p:spPr>
          <a:xfrm>
            <a:off x="1211481" y="2024169"/>
            <a:ext cx="8821646" cy="1138773"/>
          </a:xfrm>
          <a:prstGeom prst="rect">
            <a:avLst/>
          </a:prstGeom>
          <a:noFill/>
        </p:spPr>
        <p:txBody>
          <a:bodyPr wrap="none" rtlCol="0">
            <a:spAutoFit/>
          </a:bodyPr>
          <a:lstStyle/>
          <a:p>
            <a:pPr algn="ctr"/>
            <a:r>
              <a:rPr lang="en-US" sz="1800" b="1" dirty="0">
                <a:solidFill>
                  <a:srgbClr val="FF0000"/>
                </a:solidFill>
                <a:latin typeface="Times New Roman" panose="02020603050405020304" pitchFamily="18" charset="0"/>
                <a:cs typeface="Times New Roman" panose="02020603050405020304" pitchFamily="18" charset="0"/>
              </a:rPr>
              <a:t>SCHOOL OF ELECTRONICS, ELECTRICAL AND BIOMEDICAL TECHNOLOGY</a:t>
            </a:r>
            <a:br>
              <a:rPr lang="en-US" sz="1800" b="1" dirty="0">
                <a:solidFill>
                  <a:srgbClr val="FF0000"/>
                </a:solidFill>
                <a:latin typeface="Times New Roman" panose="02020603050405020304" pitchFamily="18" charset="0"/>
                <a:cs typeface="Times New Roman" panose="02020603050405020304" pitchFamily="18" charset="0"/>
              </a:rPr>
            </a:br>
            <a:r>
              <a:rPr lang="en-US" sz="1800" b="1" dirty="0">
                <a:solidFill>
                  <a:srgbClr val="FF0000"/>
                </a:solidFill>
                <a:latin typeface="Times New Roman" panose="02020603050405020304" pitchFamily="18" charset="0"/>
                <a:cs typeface="Times New Roman" panose="02020603050405020304" pitchFamily="18" charset="0"/>
              </a:rPr>
              <a:t>DEPARTMENT OF BIOMEDICAL ENGINEERING</a:t>
            </a:r>
          </a:p>
          <a:p>
            <a:pPr algn="ctr"/>
            <a:r>
              <a:rPr lang="en-US" sz="1800" dirty="0"/>
              <a:t/>
            </a:r>
            <a:br>
              <a:rPr lang="en-US" sz="1800" dirty="0"/>
            </a:br>
            <a:endParaRPr lang="en-IN" b="1" dirty="0">
              <a:solidFill>
                <a:srgbClr val="002060"/>
              </a:solidFill>
            </a:endParaRPr>
          </a:p>
        </p:txBody>
      </p:sp>
      <p:sp>
        <p:nvSpPr>
          <p:cNvPr id="3" name="TextBox 2"/>
          <p:cNvSpPr txBox="1"/>
          <p:nvPr/>
        </p:nvSpPr>
        <p:spPr>
          <a:xfrm>
            <a:off x="405622" y="3479554"/>
            <a:ext cx="3328416" cy="1384995"/>
          </a:xfrm>
          <a:prstGeom prst="rect">
            <a:avLst/>
          </a:prstGeom>
          <a:noFill/>
        </p:spPr>
        <p:txBody>
          <a:bodyPr wrap="square" rtlCol="0">
            <a:spAutoFit/>
          </a:bodyPr>
          <a:lstStyle/>
          <a:p>
            <a:r>
              <a:rPr lang="en-IN" dirty="0" smtClean="0">
                <a:latin typeface="Times New Roman" panose="02020603050405020304" pitchFamily="18" charset="0"/>
                <a:cs typeface="Times New Roman" panose="02020603050405020304" pitchFamily="18" charset="0"/>
              </a:rPr>
              <a:t>TEAM NUMBER:06</a:t>
            </a:r>
          </a:p>
          <a:p>
            <a:r>
              <a:rPr lang="en-IN" dirty="0" err="1" smtClean="0">
                <a:latin typeface="Times New Roman" panose="02020603050405020304" pitchFamily="18" charset="0"/>
                <a:cs typeface="Times New Roman" panose="02020603050405020304" pitchFamily="18" charset="0"/>
              </a:rPr>
              <a:t>M.Mirudhula</a:t>
            </a:r>
            <a:r>
              <a:rPr lang="en-IN" dirty="0" smtClean="0">
                <a:latin typeface="Times New Roman" panose="02020603050405020304" pitchFamily="18" charset="0"/>
                <a:cs typeface="Times New Roman" panose="02020603050405020304" pitchFamily="18" charset="0"/>
              </a:rPr>
              <a:t> daisy-9923005207</a:t>
            </a:r>
          </a:p>
          <a:p>
            <a:r>
              <a:rPr lang="en-IN" dirty="0" err="1" smtClean="0">
                <a:latin typeface="Times New Roman" panose="02020603050405020304" pitchFamily="18" charset="0"/>
                <a:cs typeface="Times New Roman" panose="02020603050405020304" pitchFamily="18" charset="0"/>
              </a:rPr>
              <a:t>S.Siva</a:t>
            </a:r>
            <a:r>
              <a:rPr lang="en-IN" dirty="0" smtClean="0">
                <a:latin typeface="Times New Roman" panose="02020603050405020304" pitchFamily="18" charset="0"/>
                <a:cs typeface="Times New Roman" panose="02020603050405020304" pitchFamily="18" charset="0"/>
              </a:rPr>
              <a:t> Priya           -9923005224</a:t>
            </a:r>
          </a:p>
          <a:p>
            <a:r>
              <a:rPr lang="en-IN" dirty="0" err="1" smtClean="0">
                <a:latin typeface="Times New Roman" panose="02020603050405020304" pitchFamily="18" charset="0"/>
                <a:cs typeface="Times New Roman" panose="02020603050405020304" pitchFamily="18" charset="0"/>
              </a:rPr>
              <a:t>S.Deepa</a:t>
            </a:r>
            <a:r>
              <a:rPr lang="en-IN" dirty="0" smtClean="0">
                <a:latin typeface="Times New Roman" panose="02020603050405020304" pitchFamily="18" charset="0"/>
                <a:cs typeface="Times New Roman" panose="02020603050405020304" pitchFamily="18" charset="0"/>
              </a:rPr>
              <a:t> </a:t>
            </a:r>
            <a:r>
              <a:rPr lang="en-IN" dirty="0" err="1" smtClean="0">
                <a:latin typeface="Times New Roman" panose="02020603050405020304" pitchFamily="18" charset="0"/>
                <a:cs typeface="Times New Roman" panose="02020603050405020304" pitchFamily="18" charset="0"/>
              </a:rPr>
              <a:t>dharshini</a:t>
            </a:r>
            <a:r>
              <a:rPr lang="en-IN" dirty="0" smtClean="0">
                <a:latin typeface="Times New Roman" panose="02020603050405020304" pitchFamily="18" charset="0"/>
                <a:cs typeface="Times New Roman" panose="02020603050405020304" pitchFamily="18" charset="0"/>
              </a:rPr>
              <a:t> -9923005245</a:t>
            </a:r>
          </a:p>
          <a:p>
            <a:r>
              <a:rPr lang="en-IN" dirty="0" err="1" smtClean="0">
                <a:latin typeface="Times New Roman" panose="02020603050405020304" pitchFamily="18" charset="0"/>
                <a:cs typeface="Times New Roman" panose="02020603050405020304" pitchFamily="18" charset="0"/>
              </a:rPr>
              <a:t>R.Siddarth</a:t>
            </a:r>
            <a:r>
              <a:rPr lang="en-IN" dirty="0" smtClean="0">
                <a:latin typeface="Times New Roman" panose="02020603050405020304" pitchFamily="18" charset="0"/>
                <a:cs typeface="Times New Roman" panose="02020603050405020304" pitchFamily="18" charset="0"/>
              </a:rPr>
              <a:t>             -9923005265</a:t>
            </a:r>
          </a:p>
          <a:p>
            <a:r>
              <a:rPr lang="en-IN" dirty="0" err="1">
                <a:latin typeface="Times New Roman" panose="02020603050405020304" pitchFamily="18" charset="0"/>
                <a:cs typeface="Times New Roman" panose="02020603050405020304" pitchFamily="18" charset="0"/>
              </a:rPr>
              <a:t>Akuleti</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Bunny       -99230040004</a:t>
            </a:r>
            <a:endParaRPr lang="en-IN" dirty="0">
              <a:latin typeface="Times New Roman" panose="02020603050405020304" pitchFamily="18" charset="0"/>
              <a:cs typeface="Times New Roman" panose="02020603050405020304" pitchFamily="18" charset="0"/>
            </a:endParaRPr>
          </a:p>
        </p:txBody>
      </p:sp>
      <p:pic>
        <p:nvPicPr>
          <p:cNvPr id="1026" name="Picture 2" descr="https://images.openai.com/static-rsc-4/Mx254q-6JlTBN2M9z2d3TUQocW4MXRs6rOxcg4I0Xzk3qODFxAGgRN65IBbRwLnBiiitC7wicRKiuAR9M8iRwb77Viba7mIJopuTSZgtq8XTJG3ENV_stl5rIGH-uwubwl3m8o0OKL6wXezHTChuyXm_-VnHogY4j-Mav8CO-V36yt4KUtcleeZFBlxCn2U7?purpose=fullsiz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02418" y="4637144"/>
            <a:ext cx="1521125" cy="15789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4"/>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b="1" dirty="0">
                <a:latin typeface="Times New Roman"/>
                <a:ea typeface="Times New Roman"/>
                <a:cs typeface="Times New Roman"/>
                <a:sym typeface="Times New Roman"/>
              </a:rPr>
              <a:t>Problem Statement</a:t>
            </a:r>
            <a:endParaRPr dirty="0"/>
          </a:p>
        </p:txBody>
      </p:sp>
      <p:sp>
        <p:nvSpPr>
          <p:cNvPr id="149" name="Google Shape;149;p4"/>
          <p:cNvSpPr txBox="1">
            <a:spLocks noGrp="1"/>
          </p:cNvSpPr>
          <p:nvPr>
            <p:ph type="body" idx="1"/>
          </p:nvPr>
        </p:nvSpPr>
        <p:spPr>
          <a:xfrm>
            <a:off x="1099421" y="1940949"/>
            <a:ext cx="10515600" cy="4343400"/>
          </a:xfrm>
          <a:prstGeom prst="rect">
            <a:avLst/>
          </a:prstGeom>
          <a:noFill/>
          <a:ln>
            <a:noFill/>
          </a:ln>
        </p:spPr>
        <p:txBody>
          <a:bodyPr spcFirstLastPara="1" wrap="square" lIns="0" tIns="45700" rIns="0" bIns="45700" anchor="t" anchorCtr="0">
            <a:noAutofit/>
          </a:bodyPr>
          <a:lstStyle/>
          <a:p>
            <a:pPr algn="just"/>
            <a:r>
              <a:rPr lang="en-US" sz="2100" dirty="0">
                <a:latin typeface="Times New Roman" panose="02020603050405020304" pitchFamily="18" charset="0"/>
                <a:cs typeface="Times New Roman" panose="02020603050405020304" pitchFamily="18" charset="0"/>
              </a:rPr>
              <a:t>Rapid increase in electronic devices leads to high e-waste generation </a:t>
            </a:r>
          </a:p>
          <a:p>
            <a:pPr algn="just"/>
            <a:r>
              <a:rPr lang="en-US" sz="2100" dirty="0">
                <a:latin typeface="Times New Roman" panose="02020603050405020304" pitchFamily="18" charset="0"/>
                <a:cs typeface="Times New Roman" panose="02020603050405020304" pitchFamily="18" charset="0"/>
              </a:rPr>
              <a:t>Battery degradation causes unexpected device failures and performance issues </a:t>
            </a:r>
          </a:p>
          <a:p>
            <a:pPr algn="just"/>
            <a:r>
              <a:rPr lang="en-US" sz="2100" dirty="0">
                <a:latin typeface="Times New Roman" panose="02020603050405020304" pitchFamily="18" charset="0"/>
                <a:cs typeface="Times New Roman" panose="02020603050405020304" pitchFamily="18" charset="0"/>
              </a:rPr>
              <a:t>Maintenance records are manual and unorganized </a:t>
            </a:r>
          </a:p>
          <a:p>
            <a:pPr algn="just"/>
            <a:r>
              <a:rPr lang="en-US" sz="2100" dirty="0">
                <a:latin typeface="Times New Roman" panose="02020603050405020304" pitchFamily="18" charset="0"/>
                <a:cs typeface="Times New Roman" panose="02020603050405020304" pitchFamily="18" charset="0"/>
              </a:rPr>
              <a:t>No centralized system to track device health and lifecycle </a:t>
            </a:r>
          </a:p>
          <a:p>
            <a:pPr algn="just"/>
            <a:r>
              <a:rPr lang="en-US" sz="2100" dirty="0">
                <a:latin typeface="Times New Roman" panose="02020603050405020304" pitchFamily="18" charset="0"/>
                <a:cs typeface="Times New Roman" panose="02020603050405020304" pitchFamily="18" charset="0"/>
              </a:rPr>
              <a:t>Delayed detection of battery issues increases maintenance cost </a:t>
            </a:r>
          </a:p>
          <a:p>
            <a:pPr algn="just"/>
            <a:r>
              <a:rPr lang="en-US" sz="2100" dirty="0">
                <a:latin typeface="Times New Roman" panose="02020603050405020304" pitchFamily="18" charset="0"/>
                <a:cs typeface="Times New Roman" panose="02020603050405020304" pitchFamily="18" charset="0"/>
              </a:rPr>
              <a:t>Improper disposal of batteries causes environmental pollution </a:t>
            </a:r>
          </a:p>
        </p:txBody>
      </p:sp>
      <p:sp>
        <p:nvSpPr>
          <p:cNvPr id="3" name="Google Shape;125;p1">
            <a:extLst>
              <a:ext uri="{FF2B5EF4-FFF2-40B4-BE49-F238E27FC236}">
                <a16:creationId xmlns="" xmlns:a16="http://schemas.microsoft.com/office/drawing/2014/main" id="{EE5ED796-6BBE-95DA-DC28-56AEF2C3FE62}"/>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solidFill>
                  <a:schemeClr val="bg1"/>
                </a:solidFill>
              </a:rPr>
              <a:t>SCHOOL OF ELECTRONICS, ELECTRICAL AND BIOMEDICAL TECHNOLOGY             DEPARTMENT OF BIOMEDICAL ENGINEERING                    215BME4265 – Capstone Project </a:t>
            </a:r>
            <a:endParaRPr lang="en-US" dirty="0">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 xmlns:a16="http://schemas.microsoft.com/office/drawing/2014/main" id="{79E6B27E-3FF6-FE1A-204F-953BA9901710}"/>
              </a:ext>
            </a:extLst>
          </p:cNvPr>
          <p:cNvSpPr txBox="1"/>
          <p:nvPr/>
        </p:nvSpPr>
        <p:spPr>
          <a:xfrm>
            <a:off x="1209257" y="177675"/>
            <a:ext cx="9176578" cy="1754326"/>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Transformation of Conventional System into Smart E-Waste &amp; Battery Management System</a:t>
            </a:r>
            <a:endParaRPr lang="en-IN" sz="3600" b="1" dirty="0">
              <a:latin typeface="Times New Roman" panose="02020603050405020304" pitchFamily="18" charset="0"/>
              <a:cs typeface="Times New Roman" panose="02020603050405020304" pitchFamily="18" charset="0"/>
            </a:endParaRPr>
          </a:p>
        </p:txBody>
      </p:sp>
      <p:sp>
        <p:nvSpPr>
          <p:cNvPr id="15" name="Google Shape;125;p1">
            <a:extLst>
              <a:ext uri="{FF2B5EF4-FFF2-40B4-BE49-F238E27FC236}">
                <a16:creationId xmlns="" xmlns:a16="http://schemas.microsoft.com/office/drawing/2014/main" id="{41B67AFC-E3FE-D34F-ABF4-26DC3AF890B6}"/>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276" y="1847702"/>
            <a:ext cx="10058400" cy="4544046"/>
          </a:xfrm>
          <a:prstGeom prst="rect">
            <a:avLst/>
          </a:prstGeom>
        </p:spPr>
      </p:pic>
    </p:spTree>
    <p:extLst>
      <p:ext uri="{BB962C8B-B14F-4D97-AF65-F5344CB8AC3E}">
        <p14:creationId xmlns:p14="http://schemas.microsoft.com/office/powerpoint/2010/main" val="19761549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40191E0A-6094-E2D2-1849-E994DCBD2136}"/>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2F8D2F97-5BEC-974F-36B8-F8BCDCB13A34}"/>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b="1" dirty="0">
                <a:latin typeface="Times New Roman"/>
                <a:cs typeface="Times New Roman"/>
                <a:sym typeface="Times New Roman"/>
              </a:rPr>
              <a:t>Abstract</a:t>
            </a:r>
            <a:endParaRPr dirty="0"/>
          </a:p>
        </p:txBody>
      </p:sp>
      <p:sp>
        <p:nvSpPr>
          <p:cNvPr id="4" name="Google Shape;125;p1">
            <a:extLst>
              <a:ext uri="{FF2B5EF4-FFF2-40B4-BE49-F238E27FC236}">
                <a16:creationId xmlns="" xmlns:a16="http://schemas.microsoft.com/office/drawing/2014/main" id="{5C482CE6-E17D-0A0F-FAB7-438803BEFE72}"/>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
        <p:nvSpPr>
          <p:cNvPr id="2" name="Text Placeholder 1"/>
          <p:cNvSpPr>
            <a:spLocks noGrp="1" noChangeArrowheads="1"/>
          </p:cNvSpPr>
          <p:nvPr>
            <p:ph type="body" idx="1"/>
          </p:nvPr>
        </p:nvSpPr>
        <p:spPr bwMode="auto">
          <a:xfrm>
            <a:off x="1096963" y="2063034"/>
            <a:ext cx="90166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spcBef>
                <a:spcPct val="0"/>
              </a:spcBef>
              <a:spcAft>
                <a:spcPct val="0"/>
              </a:spcAft>
              <a:buClrTx/>
              <a:buSzTx/>
              <a:buNone/>
            </a:pPr>
            <a:r>
              <a:rPr lang="en-US" sz="2100" dirty="0">
                <a:latin typeface="Times New Roman" panose="02020603050405020304" pitchFamily="18" charset="0"/>
                <a:cs typeface="Times New Roman" panose="02020603050405020304" pitchFamily="18" charset="0"/>
              </a:rPr>
              <a:t>The rapid growth of electronic devices has led to a significant increase in e-waste generation, especially in institutions. Battery degradation in devices affects performance and reliability, often causing unexpected failures. Existing systems mainly rely on manual maintenance records, which are inefficient and difficult to manage. To address these issues, a web-based e-waste and battery lifecycle management system is proposed. The system enables centralized device tracking, battery health evaluation, and automated alert generation. It also provides dashboard-based analytics for effective monitoring and decision-making. Overall, the system improves maintenance efficiency and supports sustainable e-waste disposal practices.</a:t>
            </a:r>
            <a:endPar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2352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D0F99A7F-B7BA-3BA7-B655-D212040637EC}"/>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401A8E79-5B98-35E8-0ECC-CCC9D4D096B6}"/>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b="1" dirty="0">
                <a:latin typeface="Times New Roman"/>
                <a:cs typeface="Times New Roman"/>
                <a:sym typeface="Times New Roman"/>
              </a:rPr>
              <a:t>Introduction</a:t>
            </a:r>
            <a:endParaRPr dirty="0"/>
          </a:p>
        </p:txBody>
      </p:sp>
      <p:sp>
        <p:nvSpPr>
          <p:cNvPr id="149" name="Google Shape;149;p4">
            <a:extLst>
              <a:ext uri="{FF2B5EF4-FFF2-40B4-BE49-F238E27FC236}">
                <a16:creationId xmlns="" xmlns:a16="http://schemas.microsoft.com/office/drawing/2014/main" id="{E56CBDCF-26D4-1311-F312-1C1FC74E1DAA}"/>
              </a:ext>
            </a:extLst>
          </p:cNvPr>
          <p:cNvSpPr txBox="1">
            <a:spLocks noGrp="1"/>
          </p:cNvSpPr>
          <p:nvPr>
            <p:ph type="body" idx="1"/>
          </p:nvPr>
        </p:nvSpPr>
        <p:spPr>
          <a:xfrm>
            <a:off x="854977" y="2022431"/>
            <a:ext cx="10515600" cy="4343400"/>
          </a:xfrm>
          <a:prstGeom prst="rect">
            <a:avLst/>
          </a:prstGeom>
          <a:noFill/>
          <a:ln>
            <a:noFill/>
          </a:ln>
        </p:spPr>
        <p:txBody>
          <a:bodyPr spcFirstLastPara="1" wrap="square" lIns="0" tIns="45700" rIns="0" bIns="45700" anchor="t" anchorCtr="0">
            <a:noAutofit/>
          </a:bodyPr>
          <a:lstStyle/>
          <a:p>
            <a:pPr algn="just"/>
            <a:r>
              <a:rPr lang="en-US" sz="2100" dirty="0">
                <a:latin typeface="Times New Roman" panose="02020603050405020304" pitchFamily="18" charset="0"/>
                <a:cs typeface="Times New Roman" panose="02020603050405020304" pitchFamily="18" charset="0"/>
              </a:rPr>
              <a:t>In recent years, the rapid growth of electronic devices in educational institutions and organizations has significantly increased the generation of electronic waste. Devices such as computers, printers, UPS systems, and networking equipment are widely used, and their batteries degrade over time due to continuous usage and environmental factors. This degradation can lead to unexpected failures, reduced performance, and increased maintenance costs. Currently, many institutions rely on manual methods to track device condition and maintenance records, which are inefficient and difficult to manage. In addition, improper disposal of batteries and electronic devices poses serious environmental risks. Therefore, there is a need for a smart and centralized system to monitor device health, manage battery lifecycle, and promote sustainable e-waste management practices.</a:t>
            </a:r>
          </a:p>
        </p:txBody>
      </p:sp>
      <p:sp>
        <p:nvSpPr>
          <p:cNvPr id="4" name="Google Shape;125;p1">
            <a:extLst>
              <a:ext uri="{FF2B5EF4-FFF2-40B4-BE49-F238E27FC236}">
                <a16:creationId xmlns="" xmlns:a16="http://schemas.microsoft.com/office/drawing/2014/main" id="{CA4942A9-AAAF-62E7-9D52-204E61465C95}"/>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21438598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7DDD9E4C-6BFD-3B18-EB94-E7A211A3CC92}"/>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8CF114F0-7AE9-28EE-B691-261ECF56E96D}"/>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None/>
            </a:pPr>
            <a:r>
              <a:rPr lang="en-US" b="1" dirty="0">
                <a:latin typeface="Times New Roman"/>
                <a:cs typeface="Times New Roman"/>
                <a:sym typeface="Times New Roman"/>
              </a:rPr>
              <a:t>Objectives</a:t>
            </a:r>
            <a:endParaRPr dirty="0"/>
          </a:p>
        </p:txBody>
      </p:sp>
      <p:sp>
        <p:nvSpPr>
          <p:cNvPr id="149" name="Google Shape;149;p4">
            <a:extLst>
              <a:ext uri="{FF2B5EF4-FFF2-40B4-BE49-F238E27FC236}">
                <a16:creationId xmlns="" xmlns:a16="http://schemas.microsoft.com/office/drawing/2014/main" id="{8CA14319-FEEB-6AE5-B7FC-9A9F8FBE3771}"/>
              </a:ext>
            </a:extLst>
          </p:cNvPr>
          <p:cNvSpPr txBox="1">
            <a:spLocks noGrp="1"/>
          </p:cNvSpPr>
          <p:nvPr>
            <p:ph type="body" idx="1"/>
          </p:nvPr>
        </p:nvSpPr>
        <p:spPr>
          <a:xfrm>
            <a:off x="712177" y="1836859"/>
            <a:ext cx="12192000" cy="4343400"/>
          </a:xfrm>
          <a:prstGeom prst="rect">
            <a:avLst/>
          </a:prstGeom>
          <a:noFill/>
          <a:ln>
            <a:noFill/>
          </a:ln>
        </p:spPr>
        <p:txBody>
          <a:bodyPr spcFirstLastPara="1" wrap="square" lIns="0" tIns="45700" rIns="0" bIns="45700" anchor="t" anchorCtr="0">
            <a:noAutofit/>
          </a:bodyPr>
          <a:lstStyle/>
          <a:p>
            <a:pPr algn="just"/>
            <a:r>
              <a:rPr lang="en-US" sz="2100" dirty="0">
                <a:latin typeface="Times New Roman" panose="02020603050405020304" pitchFamily="18" charset="0"/>
                <a:cs typeface="Times New Roman" panose="02020603050405020304" pitchFamily="18" charset="0"/>
              </a:rPr>
              <a:t>To develop a web-based centralized system for managing electronic devices </a:t>
            </a:r>
          </a:p>
          <a:p>
            <a:pPr algn="just"/>
            <a:r>
              <a:rPr lang="en-US" sz="2100" dirty="0">
                <a:latin typeface="Times New Roman" panose="02020603050405020304" pitchFamily="18" charset="0"/>
                <a:cs typeface="Times New Roman" panose="02020603050405020304" pitchFamily="18" charset="0"/>
              </a:rPr>
              <a:t>To monitor battery health and performance of devices </a:t>
            </a:r>
          </a:p>
          <a:p>
            <a:pPr algn="just"/>
            <a:r>
              <a:rPr lang="en-US" sz="2100" dirty="0">
                <a:latin typeface="Times New Roman" panose="02020603050405020304" pitchFamily="18" charset="0"/>
                <a:cs typeface="Times New Roman" panose="02020603050405020304" pitchFamily="18" charset="0"/>
              </a:rPr>
              <a:t>To provide early detection of battery degradation </a:t>
            </a:r>
          </a:p>
          <a:p>
            <a:pPr algn="just"/>
            <a:r>
              <a:rPr lang="en-US" sz="2100" dirty="0">
                <a:latin typeface="Times New Roman" panose="02020603050405020304" pitchFamily="18" charset="0"/>
                <a:cs typeface="Times New Roman" panose="02020603050405020304" pitchFamily="18" charset="0"/>
              </a:rPr>
              <a:t>To generate automated alerts for maintenance and replacement </a:t>
            </a:r>
          </a:p>
          <a:p>
            <a:pPr algn="just"/>
            <a:r>
              <a:rPr lang="en-US" sz="2100" dirty="0">
                <a:latin typeface="Times New Roman" panose="02020603050405020304" pitchFamily="18" charset="0"/>
                <a:cs typeface="Times New Roman" panose="02020603050405020304" pitchFamily="18" charset="0"/>
              </a:rPr>
              <a:t>To maintain lifecycle records of devices and batteries </a:t>
            </a:r>
          </a:p>
          <a:p>
            <a:pPr algn="just"/>
            <a:r>
              <a:rPr lang="en-US" sz="2100" dirty="0">
                <a:latin typeface="Times New Roman" panose="02020603050405020304" pitchFamily="18" charset="0"/>
                <a:cs typeface="Times New Roman" panose="02020603050405020304" pitchFamily="18" charset="0"/>
              </a:rPr>
              <a:t>To enable analytics and reporting for better decision-making </a:t>
            </a:r>
          </a:p>
          <a:p>
            <a:pPr algn="just"/>
            <a:r>
              <a:rPr lang="en-US" sz="2100" dirty="0">
                <a:latin typeface="Times New Roman" panose="02020603050405020304" pitchFamily="18" charset="0"/>
                <a:cs typeface="Times New Roman" panose="02020603050405020304" pitchFamily="18" charset="0"/>
              </a:rPr>
              <a:t>To promote sustainable e-waste management practices </a:t>
            </a:r>
          </a:p>
        </p:txBody>
      </p:sp>
      <p:sp>
        <p:nvSpPr>
          <p:cNvPr id="4" name="Google Shape;125;p1">
            <a:extLst>
              <a:ext uri="{FF2B5EF4-FFF2-40B4-BE49-F238E27FC236}">
                <a16:creationId xmlns="" xmlns:a16="http://schemas.microsoft.com/office/drawing/2014/main" id="{6D99E29A-6C97-AF26-E7BA-DDA4B3AA71CA}"/>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42015576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CF7AADC7-E7F6-EE54-8F88-CCDD2FE7A6C9}"/>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0447B224-890C-C807-5D29-F1BF3763B25B}"/>
              </a:ext>
            </a:extLst>
          </p:cNvPr>
          <p:cNvSpPr txBox="1">
            <a:spLocks noGrp="1"/>
          </p:cNvSpPr>
          <p:nvPr>
            <p:ph type="title"/>
          </p:nvPr>
        </p:nvSpPr>
        <p:spPr>
          <a:xfrm>
            <a:off x="750176" y="932507"/>
            <a:ext cx="9398000" cy="824282"/>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Motivation &amp; Significance</a:t>
            </a:r>
            <a:endParaRPr dirty="0"/>
          </a:p>
        </p:txBody>
      </p:sp>
      <p:sp>
        <p:nvSpPr>
          <p:cNvPr id="149" name="Google Shape;149;p4">
            <a:extLst>
              <a:ext uri="{FF2B5EF4-FFF2-40B4-BE49-F238E27FC236}">
                <a16:creationId xmlns="" xmlns:a16="http://schemas.microsoft.com/office/drawing/2014/main" id="{7A232B65-7570-F20D-E81C-DC4555B22D1A}"/>
              </a:ext>
            </a:extLst>
          </p:cNvPr>
          <p:cNvSpPr txBox="1">
            <a:spLocks noGrp="1"/>
          </p:cNvSpPr>
          <p:nvPr>
            <p:ph type="body" idx="1"/>
          </p:nvPr>
        </p:nvSpPr>
        <p:spPr>
          <a:xfrm>
            <a:off x="864705" y="1964098"/>
            <a:ext cx="10227366" cy="2876259"/>
          </a:xfrm>
          <a:prstGeom prst="rect">
            <a:avLst/>
          </a:prstGeom>
          <a:noFill/>
          <a:ln>
            <a:noFill/>
          </a:ln>
        </p:spPr>
        <p:txBody>
          <a:bodyPr spcFirstLastPara="1" wrap="square" lIns="0" tIns="45700" rIns="0" bIns="45700" anchor="t" anchorCtr="0">
            <a:noAutofit/>
          </a:bodyPr>
          <a:lstStyle/>
          <a:p>
            <a:pPr marL="90488" indent="-114300" algn="just">
              <a:spcBef>
                <a:spcPts val="0"/>
              </a:spcBef>
            </a:pPr>
            <a:r>
              <a:rPr lang="en-US" sz="2100" dirty="0">
                <a:latin typeface="Times New Roman" panose="02020603050405020304" pitchFamily="18" charset="0"/>
                <a:cs typeface="Times New Roman" panose="02020603050405020304" pitchFamily="18" charset="0"/>
              </a:rPr>
              <a:t>The rapid growth of electronic devices has significantly increased e-waste, creating challenges in proper management and disposal. Many institutions lack efficient monitoring systems, leading to frequent device failures and high maintenance costs. Manual tracking of device and battery conditions is time-consuming and inefficient. Improper battery disposal also causes environmental risks. This project offers a smart, centralized solution for effective device and battery management, enhancing reliability while supporting sustainable practices and better resource utilization.</a:t>
            </a:r>
          </a:p>
          <a:p>
            <a:pPr marL="90488" lvl="0" indent="-114300" algn="just">
              <a:spcBef>
                <a:spcPts val="0"/>
              </a:spcBef>
            </a:pPr>
            <a:endParaRPr sz="2100" dirty="0">
              <a:latin typeface="Times New Roman" panose="02020603050405020304" pitchFamily="18" charset="0"/>
              <a:cs typeface="Times New Roman" panose="02020603050405020304" pitchFamily="18" charset="0"/>
            </a:endParaRPr>
          </a:p>
        </p:txBody>
      </p:sp>
      <p:sp>
        <p:nvSpPr>
          <p:cNvPr id="4" name="Google Shape;125;p1">
            <a:extLst>
              <a:ext uri="{FF2B5EF4-FFF2-40B4-BE49-F238E27FC236}">
                <a16:creationId xmlns="" xmlns:a16="http://schemas.microsoft.com/office/drawing/2014/main" id="{F5F0E312-A634-96B5-4798-1CD5E5A98B22}"/>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41292667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8F44570A-535A-D82C-2990-0290D4B4979A}"/>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BD4EB0AD-7C58-7EB9-D5C0-18105C785A38}"/>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Motivation &amp; Significance (Cont..)</a:t>
            </a:r>
            <a:endParaRPr dirty="0"/>
          </a:p>
        </p:txBody>
      </p:sp>
      <p:sp>
        <p:nvSpPr>
          <p:cNvPr id="149" name="Google Shape;149;p4">
            <a:extLst>
              <a:ext uri="{FF2B5EF4-FFF2-40B4-BE49-F238E27FC236}">
                <a16:creationId xmlns="" xmlns:a16="http://schemas.microsoft.com/office/drawing/2014/main" id="{74A805B2-701A-D472-19CF-AFD24DD6EC27}"/>
              </a:ext>
            </a:extLst>
          </p:cNvPr>
          <p:cNvSpPr txBox="1">
            <a:spLocks noGrp="1"/>
          </p:cNvSpPr>
          <p:nvPr>
            <p:ph type="body" idx="1"/>
          </p:nvPr>
        </p:nvSpPr>
        <p:spPr>
          <a:xfrm>
            <a:off x="955013" y="1958183"/>
            <a:ext cx="10515600" cy="4143033"/>
          </a:xfrm>
          <a:prstGeom prst="rect">
            <a:avLst/>
          </a:prstGeom>
          <a:noFill/>
          <a:ln>
            <a:noFill/>
          </a:ln>
        </p:spPr>
        <p:txBody>
          <a:bodyPr spcFirstLastPara="1" wrap="square" lIns="0" tIns="45700" rIns="0" bIns="45700" anchor="t" anchorCtr="0">
            <a:noAutofit/>
          </a:bodyPr>
          <a:lstStyle/>
          <a:p>
            <a:r>
              <a:rPr lang="en-IN" dirty="0">
                <a:latin typeface="Times New Roman" panose="02020603050405020304" pitchFamily="18" charset="0"/>
                <a:cs typeface="Times New Roman" panose="02020603050405020304" pitchFamily="18" charset="0"/>
              </a:rPr>
              <a:t>IEEE 12207 for software life cycle </a:t>
            </a:r>
          </a:p>
          <a:p>
            <a:r>
              <a:rPr lang="en-IN" dirty="0">
                <a:latin typeface="Times New Roman" panose="02020603050405020304" pitchFamily="18" charset="0"/>
                <a:cs typeface="Times New Roman" panose="02020603050405020304" pitchFamily="18" charset="0"/>
              </a:rPr>
              <a:t>IEEE 830 / 29148 for requirements </a:t>
            </a:r>
          </a:p>
          <a:p>
            <a:r>
              <a:rPr lang="en-IN" dirty="0">
                <a:latin typeface="Times New Roman" panose="02020603050405020304" pitchFamily="18" charset="0"/>
                <a:cs typeface="Times New Roman" panose="02020603050405020304" pitchFamily="18" charset="0"/>
              </a:rPr>
              <a:t>IEEE 802.11 </a:t>
            </a:r>
            <a:r>
              <a:rPr lang="en-IN" sz="2100" dirty="0">
                <a:latin typeface="Times New Roman" panose="02020603050405020304" pitchFamily="18" charset="0"/>
                <a:cs typeface="Times New Roman" panose="02020603050405020304" pitchFamily="18" charset="0"/>
              </a:rPr>
              <a:t>for</a:t>
            </a:r>
            <a:r>
              <a:rPr lang="en-IN" dirty="0">
                <a:latin typeface="Times New Roman" panose="02020603050405020304" pitchFamily="18" charset="0"/>
                <a:cs typeface="Times New Roman" panose="02020603050405020304" pitchFamily="18" charset="0"/>
              </a:rPr>
              <a:t> communication </a:t>
            </a:r>
          </a:p>
          <a:p>
            <a:r>
              <a:rPr lang="en-IN" dirty="0">
                <a:latin typeface="Times New Roman" panose="02020603050405020304" pitchFamily="18" charset="0"/>
                <a:cs typeface="Times New Roman" panose="02020603050405020304" pitchFamily="18" charset="0"/>
              </a:rPr>
              <a:t>Low cost system </a:t>
            </a:r>
          </a:p>
          <a:p>
            <a:r>
              <a:rPr lang="en-IN" dirty="0">
                <a:latin typeface="Times New Roman" panose="02020603050405020304" pitchFamily="18" charset="0"/>
                <a:cs typeface="Times New Roman" panose="02020603050405020304" pitchFamily="18" charset="0"/>
              </a:rPr>
              <a:t>Manual data entry dependency </a:t>
            </a:r>
          </a:p>
          <a:p>
            <a:r>
              <a:rPr lang="en-IN" dirty="0">
                <a:latin typeface="Times New Roman" panose="02020603050405020304" pitchFamily="18" charset="0"/>
                <a:cs typeface="Times New Roman" panose="02020603050405020304" pitchFamily="18" charset="0"/>
              </a:rPr>
              <a:t>Need for accurate data </a:t>
            </a:r>
          </a:p>
          <a:p>
            <a:r>
              <a:rPr lang="en-IN" dirty="0">
                <a:latin typeface="Times New Roman" panose="02020603050405020304" pitchFamily="18" charset="0"/>
                <a:cs typeface="Times New Roman" panose="02020603050405020304" pitchFamily="18" charset="0"/>
              </a:rPr>
              <a:t>Fast alert generation </a:t>
            </a:r>
          </a:p>
          <a:p>
            <a:r>
              <a:rPr lang="en-IN" dirty="0">
                <a:latin typeface="Times New Roman" panose="02020603050405020304" pitchFamily="18" charset="0"/>
                <a:cs typeface="Times New Roman" panose="02020603050405020304" pitchFamily="18" charset="0"/>
              </a:rPr>
              <a:t>Efficient data handling </a:t>
            </a:r>
          </a:p>
        </p:txBody>
      </p:sp>
      <p:sp>
        <p:nvSpPr>
          <p:cNvPr id="3" name="Google Shape;125;p1">
            <a:extLst>
              <a:ext uri="{FF2B5EF4-FFF2-40B4-BE49-F238E27FC236}">
                <a16:creationId xmlns="" xmlns:a16="http://schemas.microsoft.com/office/drawing/2014/main" id="{B8C05AC1-CD1B-2D3D-0E60-55D289AD8E7D}"/>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23260687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75F5684F-87D8-4486-E390-43581DBCC849}"/>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5F8E131F-34F5-E103-E41D-6D47E33D9B0F}"/>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pPr algn="just">
              <a:spcBef>
                <a:spcPts val="1400"/>
              </a:spcBef>
            </a:pPr>
            <a:r>
              <a:rPr lang="en-US" b="1" dirty="0">
                <a:solidFill>
                  <a:schemeClr val="dk1"/>
                </a:solidFill>
                <a:latin typeface="Times New Roman"/>
                <a:cs typeface="Times New Roman"/>
              </a:rPr>
              <a:t>Literature Review</a:t>
            </a:r>
          </a:p>
        </p:txBody>
      </p:sp>
      <p:sp>
        <p:nvSpPr>
          <p:cNvPr id="3" name="Google Shape;125;p1">
            <a:extLst>
              <a:ext uri="{FF2B5EF4-FFF2-40B4-BE49-F238E27FC236}">
                <a16:creationId xmlns="" xmlns:a16="http://schemas.microsoft.com/office/drawing/2014/main" id="{086F0931-A21D-8CA9-613D-FB486E76BC0A}"/>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graphicFrame>
        <p:nvGraphicFramePr>
          <p:cNvPr id="4" name="Table 3">
            <a:extLst>
              <a:ext uri="{FF2B5EF4-FFF2-40B4-BE49-F238E27FC236}">
                <a16:creationId xmlns="" xmlns:a16="http://schemas.microsoft.com/office/drawing/2014/main" id="{522651F8-858D-0420-8011-C8F8C1B0D298}"/>
              </a:ext>
            </a:extLst>
          </p:cNvPr>
          <p:cNvGraphicFramePr>
            <a:graphicFrameLocks noGrp="1"/>
          </p:cNvGraphicFramePr>
          <p:nvPr>
            <p:extLst>
              <p:ext uri="{D42A27DB-BD31-4B8C-83A1-F6EECF244321}">
                <p14:modId xmlns:p14="http://schemas.microsoft.com/office/powerpoint/2010/main" val="1321699817"/>
              </p:ext>
            </p:extLst>
          </p:nvPr>
        </p:nvGraphicFramePr>
        <p:xfrm>
          <a:off x="954157" y="1989495"/>
          <a:ext cx="10385339" cy="4245733"/>
        </p:xfrm>
        <a:graphic>
          <a:graphicData uri="http://schemas.openxmlformats.org/drawingml/2006/table">
            <a:tbl>
              <a:tblPr firstRow="1" firstCol="1" lastRow="1" lastCol="1" bandRow="1" bandCol="1">
                <a:tableStyleId>{2D42FD62-2D95-49B5-AAF5-B657BEC087FE}</a:tableStyleId>
              </a:tblPr>
              <a:tblGrid>
                <a:gridCol w="836586">
                  <a:extLst>
                    <a:ext uri="{9D8B030D-6E8A-4147-A177-3AD203B41FA5}">
                      <a16:colId xmlns="" xmlns:a16="http://schemas.microsoft.com/office/drawing/2014/main" val="388841265"/>
                    </a:ext>
                  </a:extLst>
                </a:gridCol>
                <a:gridCol w="3441629">
                  <a:extLst>
                    <a:ext uri="{9D8B030D-6E8A-4147-A177-3AD203B41FA5}">
                      <a16:colId xmlns="" xmlns:a16="http://schemas.microsoft.com/office/drawing/2014/main" val="3548707315"/>
                    </a:ext>
                  </a:extLst>
                </a:gridCol>
                <a:gridCol w="1367258">
                  <a:extLst>
                    <a:ext uri="{9D8B030D-6E8A-4147-A177-3AD203B41FA5}">
                      <a16:colId xmlns="" xmlns:a16="http://schemas.microsoft.com/office/drawing/2014/main" val="256013829"/>
                    </a:ext>
                  </a:extLst>
                </a:gridCol>
                <a:gridCol w="2566883">
                  <a:extLst>
                    <a:ext uri="{9D8B030D-6E8A-4147-A177-3AD203B41FA5}">
                      <a16:colId xmlns="" xmlns:a16="http://schemas.microsoft.com/office/drawing/2014/main" val="3788573207"/>
                    </a:ext>
                  </a:extLst>
                </a:gridCol>
                <a:gridCol w="2172983">
                  <a:extLst>
                    <a:ext uri="{9D8B030D-6E8A-4147-A177-3AD203B41FA5}">
                      <a16:colId xmlns="" xmlns:a16="http://schemas.microsoft.com/office/drawing/2014/main" val="3315847460"/>
                    </a:ext>
                  </a:extLst>
                </a:gridCol>
              </a:tblGrid>
              <a:tr h="288315">
                <a:tc>
                  <a:txBody>
                    <a:bodyPr/>
                    <a:lstStyle/>
                    <a:p>
                      <a:pPr marL="67945" algn="ctr">
                        <a:lnSpc>
                          <a:spcPts val="1375"/>
                        </a:lnSpc>
                        <a:buNone/>
                      </a:pPr>
                      <a:r>
                        <a:rPr lang="en-US" sz="1400" b="1" spc="-20" dirty="0">
                          <a:effectLst/>
                          <a:latin typeface="Times New Roman" panose="02020603050405020304" pitchFamily="18" charset="0"/>
                          <a:cs typeface="Times New Roman" panose="02020603050405020304" pitchFamily="18" charset="0"/>
                        </a:rPr>
                        <a:t>S. No</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US" sz="1400" b="1" spc="-10">
                          <a:effectLst/>
                          <a:latin typeface="Times New Roman" panose="02020603050405020304" pitchFamily="18" charset="0"/>
                          <a:cs typeface="Times New Roman" panose="02020603050405020304" pitchFamily="18" charset="0"/>
                        </a:rPr>
                        <a:t>Title</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ct val="116000"/>
                        </a:lnSpc>
                        <a:buNone/>
                      </a:pPr>
                      <a:r>
                        <a:rPr lang="en-US" sz="1400" b="1" spc="-10">
                          <a:effectLst/>
                          <a:latin typeface="Times New Roman" panose="02020603050405020304" pitchFamily="18" charset="0"/>
                          <a:cs typeface="Times New Roman" panose="02020603050405020304" pitchFamily="18" charset="0"/>
                        </a:rPr>
                        <a:t>Published </a:t>
                      </a:r>
                      <a:r>
                        <a:rPr lang="en-US" sz="1400" b="1" spc="-20">
                          <a:effectLst/>
                          <a:latin typeface="Times New Roman" panose="02020603050405020304" pitchFamily="18" charset="0"/>
                          <a:cs typeface="Times New Roman" panose="02020603050405020304" pitchFamily="18" charset="0"/>
                        </a:rPr>
                        <a:t>Year</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algn="ctr">
                        <a:lnSpc>
                          <a:spcPts val="1375"/>
                        </a:lnSpc>
                        <a:buNone/>
                      </a:pPr>
                      <a:r>
                        <a:rPr lang="en-US" sz="1400" b="1" spc="-10">
                          <a:effectLst/>
                          <a:latin typeface="Times New Roman" panose="02020603050405020304" pitchFamily="18" charset="0"/>
                          <a:cs typeface="Times New Roman" panose="02020603050405020304" pitchFamily="18" charset="0"/>
                        </a:rPr>
                        <a:t>Observation</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ts val="1375"/>
                        </a:lnSpc>
                        <a:buNone/>
                      </a:pPr>
                      <a:r>
                        <a:rPr lang="en-US" sz="1400" b="1" spc="-10" dirty="0">
                          <a:effectLst/>
                          <a:latin typeface="Times New Roman" panose="02020603050405020304" pitchFamily="18" charset="0"/>
                          <a:cs typeface="Times New Roman" panose="02020603050405020304" pitchFamily="18" charset="0"/>
                        </a:rPr>
                        <a:t>Methodology</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1561892975"/>
                  </a:ext>
                </a:extLst>
              </a:tr>
              <a:tr h="750775">
                <a:tc>
                  <a:txBody>
                    <a:bodyPr/>
                    <a:lstStyle/>
                    <a:p>
                      <a:pPr marL="67945" algn="ctr">
                        <a:spcBef>
                          <a:spcPts val="5"/>
                        </a:spcBef>
                        <a:buNone/>
                      </a:pPr>
                      <a:r>
                        <a:rPr lang="en-US" sz="1400" spc="-50">
                          <a:effectLst/>
                          <a:latin typeface="Times New Roman" panose="02020603050405020304" pitchFamily="18" charset="0"/>
                          <a:cs typeface="Times New Roman" panose="02020603050405020304" pitchFamily="18" charset="0"/>
                        </a:rPr>
                        <a:t>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ct val="115000"/>
                        </a:lnSpc>
                        <a:spcBef>
                          <a:spcPts val="5"/>
                        </a:spcBef>
                        <a:buNone/>
                      </a:pPr>
                      <a:r>
                        <a:rPr lang="en-US" sz="1400" dirty="0" smtClean="0">
                          <a:latin typeface="Times New Roman" panose="02020603050405020304" pitchFamily="18" charset="0"/>
                          <a:cs typeface="Times New Roman" panose="02020603050405020304" pitchFamily="18" charset="0"/>
                        </a:rPr>
                        <a:t>Web-Based Electronic Waste Management System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spcBef>
                          <a:spcPts val="5"/>
                        </a:spcBef>
                        <a:buNone/>
                      </a:pPr>
                      <a:r>
                        <a:rPr lang="en-US" sz="1400" spc="-20" dirty="0" smtClean="0">
                          <a:effectLst/>
                          <a:latin typeface="Times New Roman" panose="02020603050405020304" pitchFamily="18" charset="0"/>
                          <a:ea typeface="Calibri"/>
                          <a:cs typeface="Times New Roman" panose="02020603050405020304" pitchFamily="18" charset="0"/>
                        </a:rPr>
                        <a:t>2018</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75565" algn="ctr">
                        <a:lnSpc>
                          <a:spcPct val="116000"/>
                        </a:lnSpc>
                        <a:buNone/>
                      </a:pPr>
                      <a:r>
                        <a:rPr lang="en-US" sz="1400" dirty="0" smtClean="0">
                          <a:latin typeface="Times New Roman" panose="02020603050405020304" pitchFamily="18" charset="0"/>
                          <a:cs typeface="Times New Roman" panose="02020603050405020304" pitchFamily="18" charset="0"/>
                        </a:rPr>
                        <a:t>Improved e-waste data organization and recycling efficiency but lacked battery monitoring features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spcBef>
                          <a:spcPts val="215"/>
                        </a:spcBef>
                        <a:buNone/>
                      </a:pPr>
                      <a:r>
                        <a:rPr lang="en-US" sz="1400" dirty="0" smtClean="0">
                          <a:latin typeface="Times New Roman" panose="02020603050405020304" pitchFamily="18" charset="0"/>
                          <a:cs typeface="Times New Roman" panose="02020603050405020304" pitchFamily="18" charset="0"/>
                        </a:rPr>
                        <a:t>Developed a web-based platform for centralized e-waste data handling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2945262248"/>
                  </a:ext>
                </a:extLst>
              </a:tr>
              <a:tr h="708143">
                <a:tc>
                  <a:txBody>
                    <a:bodyPr/>
                    <a:lstStyle/>
                    <a:p>
                      <a:pPr marL="67945" algn="ctr">
                        <a:spcBef>
                          <a:spcPts val="5"/>
                        </a:spcBef>
                        <a:buNone/>
                      </a:pPr>
                      <a:r>
                        <a:rPr lang="en-US" sz="1400" spc="-50">
                          <a:effectLst/>
                          <a:latin typeface="Times New Roman" panose="02020603050405020304" pitchFamily="18" charset="0"/>
                          <a:cs typeface="Times New Roman" panose="02020603050405020304" pitchFamily="18" charset="0"/>
                        </a:rPr>
                        <a:t>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ct val="115000"/>
                        </a:lnSpc>
                        <a:spcBef>
                          <a:spcPts val="5"/>
                        </a:spcBef>
                        <a:buNone/>
                      </a:pPr>
                      <a:r>
                        <a:rPr lang="en-IN" sz="1400" dirty="0" smtClean="0">
                          <a:latin typeface="Times New Roman" panose="02020603050405020304" pitchFamily="18" charset="0"/>
                          <a:cs typeface="Times New Roman" panose="02020603050405020304" pitchFamily="18" charset="0"/>
                        </a:rPr>
                        <a:t>E-Waste Tracker System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spcBef>
                          <a:spcPts val="5"/>
                        </a:spcBef>
                        <a:buNone/>
                      </a:pPr>
                      <a:r>
                        <a:rPr lang="en-US" sz="1400" dirty="0" smtClean="0">
                          <a:effectLst/>
                          <a:latin typeface="Times New Roman" panose="02020603050405020304" pitchFamily="18" charset="0"/>
                          <a:cs typeface="Times New Roman" panose="02020603050405020304" pitchFamily="18" charset="0"/>
                        </a:rPr>
                        <a:t>2019</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84455" algn="ctr">
                        <a:lnSpc>
                          <a:spcPct val="115000"/>
                        </a:lnSpc>
                        <a:spcBef>
                          <a:spcPts val="215"/>
                        </a:spcBef>
                        <a:buNone/>
                      </a:pPr>
                      <a:r>
                        <a:rPr lang="en-US" sz="1400" dirty="0" smtClean="0">
                          <a:latin typeface="Times New Roman" panose="02020603050405020304" pitchFamily="18" charset="0"/>
                          <a:cs typeface="Times New Roman" panose="02020603050405020304" pitchFamily="18" charset="0"/>
                        </a:rPr>
                        <a:t>Enhanced transparency in waste collection and disposal but limited device-level tracking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ts val="1370"/>
                        </a:lnSpc>
                        <a:buNone/>
                      </a:pPr>
                      <a:r>
                        <a:rPr lang="en-US" sz="1400" dirty="0" smtClean="0">
                          <a:latin typeface="Times New Roman" panose="02020603050405020304" pitchFamily="18" charset="0"/>
                          <a:cs typeface="Times New Roman" panose="02020603050405020304" pitchFamily="18" charset="0"/>
                        </a:rPr>
                        <a:t>Tracking system from collection to recycling using database systems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807162074"/>
                  </a:ext>
                </a:extLst>
              </a:tr>
              <a:tr h="759050">
                <a:tc>
                  <a:txBody>
                    <a:bodyPr/>
                    <a:lstStyle/>
                    <a:p>
                      <a:pPr marL="67945" algn="ctr">
                        <a:lnSpc>
                          <a:spcPts val="1375"/>
                        </a:lnSpc>
                        <a:buNone/>
                      </a:pPr>
                      <a:r>
                        <a:rPr lang="en-US" sz="1400" spc="-50">
                          <a:effectLst/>
                          <a:latin typeface="Times New Roman" panose="02020603050405020304" pitchFamily="18" charset="0"/>
                          <a:cs typeface="Times New Roman" panose="02020603050405020304" pitchFamily="18" charset="0"/>
                        </a:rPr>
                        <a:t>3</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ct val="115000"/>
                        </a:lnSpc>
                        <a:spcBef>
                          <a:spcPts val="215"/>
                        </a:spcBef>
                        <a:buNone/>
                      </a:pPr>
                      <a:r>
                        <a:rPr lang="en-IN" sz="1400" dirty="0" err="1" smtClean="0">
                          <a:latin typeface="Times New Roman" panose="02020603050405020304" pitchFamily="18" charset="0"/>
                          <a:cs typeface="Times New Roman" panose="02020603050405020304" pitchFamily="18" charset="0"/>
                        </a:rPr>
                        <a:t>IoT</a:t>
                      </a:r>
                      <a:r>
                        <a:rPr lang="en-IN" sz="1400" dirty="0" smtClean="0">
                          <a:latin typeface="Times New Roman" panose="02020603050405020304" pitchFamily="18" charset="0"/>
                          <a:cs typeface="Times New Roman" panose="02020603050405020304" pitchFamily="18" charset="0"/>
                        </a:rPr>
                        <a:t>-Based E-Waste Monitoring System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ts val="1375"/>
                        </a:lnSpc>
                        <a:buNone/>
                      </a:pPr>
                      <a:r>
                        <a:rPr lang="en-US" sz="1400" dirty="0" smtClean="0">
                          <a:effectLst/>
                          <a:latin typeface="Times New Roman" panose="02020603050405020304" pitchFamily="18" charset="0"/>
                          <a:cs typeface="Times New Roman" panose="02020603050405020304" pitchFamily="18" charset="0"/>
                        </a:rPr>
                        <a:t>2021</a:t>
                      </a:r>
                      <a:r>
                        <a:rPr lang="en-IN" sz="1400" dirty="0" smtClean="0">
                          <a:effectLst/>
                          <a:latin typeface="Times New Roman" panose="02020603050405020304" pitchFamily="18" charset="0"/>
                          <a:cs typeface="Times New Roman" panose="02020603050405020304" pitchFamily="18" charset="0"/>
                        </a:rPr>
                        <a:t>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414655" algn="ctr">
                        <a:lnSpc>
                          <a:spcPct val="115000"/>
                        </a:lnSpc>
                        <a:buNone/>
                      </a:pPr>
                      <a:r>
                        <a:rPr lang="en-US" sz="1400" dirty="0" smtClean="0">
                          <a:latin typeface="Times New Roman" panose="02020603050405020304" pitchFamily="18" charset="0"/>
                          <a:cs typeface="Times New Roman" panose="02020603050405020304" pitchFamily="18" charset="0"/>
                        </a:rPr>
                        <a:t>Provided real-time monitoring but increased system complexity and cost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marR="208915" algn="ctr">
                        <a:lnSpc>
                          <a:spcPct val="115000"/>
                        </a:lnSpc>
                        <a:buNone/>
                      </a:pPr>
                      <a:r>
                        <a:rPr lang="en-US" sz="1400" dirty="0" err="1" smtClean="0">
                          <a:latin typeface="Times New Roman" panose="02020603050405020304" pitchFamily="18" charset="0"/>
                          <a:cs typeface="Times New Roman" panose="02020603050405020304" pitchFamily="18" charset="0"/>
                        </a:rPr>
                        <a:t>IoT</a:t>
                      </a:r>
                      <a:r>
                        <a:rPr lang="en-US" sz="1400" dirty="0" smtClean="0">
                          <a:latin typeface="Times New Roman" panose="02020603050405020304" pitchFamily="18" charset="0"/>
                          <a:cs typeface="Times New Roman" panose="02020603050405020304" pitchFamily="18" charset="0"/>
                        </a:rPr>
                        <a:t> sensors used for monitoring waste levels and system status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1752798351"/>
                  </a:ext>
                </a:extLst>
              </a:tr>
              <a:tr h="635160">
                <a:tc>
                  <a:txBody>
                    <a:bodyPr/>
                    <a:lstStyle/>
                    <a:p>
                      <a:pPr marL="67945" algn="ctr">
                        <a:lnSpc>
                          <a:spcPts val="1375"/>
                        </a:lnSpc>
                        <a:buNone/>
                      </a:pPr>
                      <a:r>
                        <a:rPr lang="en-US" sz="1400" spc="-50">
                          <a:effectLst/>
                          <a:latin typeface="Times New Roman" panose="02020603050405020304" pitchFamily="18" charset="0"/>
                          <a:cs typeface="Times New Roman" panose="02020603050405020304" pitchFamily="18" charset="0"/>
                        </a:rPr>
                        <a:t>4</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ct val="115000"/>
                        </a:lnSpc>
                        <a:spcBef>
                          <a:spcPts val="215"/>
                        </a:spcBef>
                        <a:buNone/>
                      </a:pPr>
                      <a:r>
                        <a:rPr lang="en-IN" sz="1400" dirty="0" smtClean="0">
                          <a:latin typeface="Times New Roman" panose="02020603050405020304" pitchFamily="18" charset="0"/>
                          <a:cs typeface="Times New Roman" panose="02020603050405020304" pitchFamily="18" charset="0"/>
                        </a:rPr>
                        <a:t>Cloud-Based E-Waste Data Management Platform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ts val="1375"/>
                        </a:lnSpc>
                        <a:buNone/>
                      </a:pPr>
                      <a:r>
                        <a:rPr lang="en-US" sz="1400" dirty="0" smtClean="0">
                          <a:effectLst/>
                          <a:latin typeface="Times New Roman" panose="02020603050405020304" pitchFamily="18" charset="0"/>
                          <a:cs typeface="Times New Roman" panose="02020603050405020304" pitchFamily="18" charset="0"/>
                        </a:rPr>
                        <a:t>2020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150495" algn="ctr">
                        <a:lnSpc>
                          <a:spcPct val="115000"/>
                        </a:lnSpc>
                        <a:buNone/>
                      </a:pPr>
                      <a:r>
                        <a:rPr lang="en-US" sz="1400" dirty="0" smtClean="0">
                          <a:latin typeface="Times New Roman" panose="02020603050405020304" pitchFamily="18" charset="0"/>
                          <a:cs typeface="Times New Roman" panose="02020603050405020304" pitchFamily="18" charset="0"/>
                        </a:rPr>
                        <a:t>Enabled scalable data access but lacked predictive maintenance features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ts val="1380"/>
                        </a:lnSpc>
                        <a:buNone/>
                      </a:pPr>
                      <a:r>
                        <a:rPr lang="en-US" sz="1400" dirty="0" smtClean="0">
                          <a:latin typeface="Times New Roman" panose="02020603050405020304" pitchFamily="18" charset="0"/>
                          <a:cs typeface="Times New Roman" panose="02020603050405020304" pitchFamily="18" charset="0"/>
                        </a:rPr>
                        <a:t>Cloud storage and centralized data access for distributed systems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536093948"/>
                  </a:ext>
                </a:extLst>
              </a:tr>
              <a:tr h="708360">
                <a:tc>
                  <a:txBody>
                    <a:bodyPr/>
                    <a:lstStyle/>
                    <a:p>
                      <a:pPr marL="67945" algn="ctr">
                        <a:lnSpc>
                          <a:spcPts val="1375"/>
                        </a:lnSpc>
                        <a:buNone/>
                      </a:pPr>
                      <a:r>
                        <a:rPr lang="en-US" sz="1400" spc="-50">
                          <a:effectLst/>
                          <a:latin typeface="Times New Roman" panose="02020603050405020304" pitchFamily="18" charset="0"/>
                          <a:cs typeface="Times New Roman" panose="02020603050405020304" pitchFamily="18" charset="0"/>
                        </a:rPr>
                        <a:t>5</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IN" sz="1400" dirty="0" smtClean="0">
                          <a:latin typeface="Times New Roman" panose="02020603050405020304" pitchFamily="18" charset="0"/>
                          <a:cs typeface="Times New Roman" panose="02020603050405020304" pitchFamily="18" charset="0"/>
                        </a:rPr>
                        <a:t>Battery Health Monitoring System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ts val="1375"/>
                        </a:lnSpc>
                        <a:buNone/>
                      </a:pPr>
                      <a:r>
                        <a:rPr lang="en-US" sz="1400" spc="-20">
                          <a:effectLst/>
                          <a:latin typeface="Times New Roman" panose="02020603050405020304" pitchFamily="18" charset="0"/>
                          <a:cs typeface="Times New Roman" panose="02020603050405020304" pitchFamily="18" charset="0"/>
                        </a:rPr>
                        <a:t>2021</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150495" algn="ctr">
                        <a:lnSpc>
                          <a:spcPct val="115000"/>
                        </a:lnSpc>
                        <a:buNone/>
                      </a:pPr>
                      <a:r>
                        <a:rPr lang="en-US" sz="1400" dirty="0" smtClean="0">
                          <a:latin typeface="Times New Roman" panose="02020603050405020304" pitchFamily="18" charset="0"/>
                          <a:cs typeface="Times New Roman" panose="02020603050405020304" pitchFamily="18" charset="0"/>
                        </a:rPr>
                        <a:t>Focused on battery parameters but lacked integration with e-waste management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ct val="115000"/>
                        </a:lnSpc>
                        <a:buNone/>
                      </a:pPr>
                      <a:r>
                        <a:rPr lang="en-US" sz="1400" dirty="0" smtClean="0">
                          <a:latin typeface="Times New Roman" panose="02020603050405020304" pitchFamily="18" charset="0"/>
                          <a:cs typeface="Times New Roman" panose="02020603050405020304" pitchFamily="18" charset="0"/>
                        </a:rPr>
                        <a:t>Rule-based evaluation using voltage, temperature, and charge cycles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2839645859"/>
                  </a:ext>
                </a:extLst>
              </a:tr>
            </a:tbl>
          </a:graphicData>
        </a:graphic>
      </p:graphicFrame>
    </p:spTree>
    <p:extLst>
      <p:ext uri="{BB962C8B-B14F-4D97-AF65-F5344CB8AC3E}">
        <p14:creationId xmlns:p14="http://schemas.microsoft.com/office/powerpoint/2010/main" val="30758630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6F222BDC-FADB-8782-DBC1-A2B75852F2F2}"/>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C4E38FA7-0C7A-0B6D-7BA9-CFF9BA0EAB05}"/>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pPr algn="just">
              <a:spcBef>
                <a:spcPts val="1400"/>
              </a:spcBef>
            </a:pPr>
            <a:r>
              <a:rPr lang="en-US" b="1" dirty="0">
                <a:solidFill>
                  <a:schemeClr val="dk1"/>
                </a:solidFill>
                <a:latin typeface="Times New Roman"/>
                <a:cs typeface="Times New Roman"/>
              </a:rPr>
              <a:t>Literature Review (Cont..)</a:t>
            </a:r>
          </a:p>
        </p:txBody>
      </p:sp>
      <p:sp>
        <p:nvSpPr>
          <p:cNvPr id="3" name="Google Shape;125;p1">
            <a:extLst>
              <a:ext uri="{FF2B5EF4-FFF2-40B4-BE49-F238E27FC236}">
                <a16:creationId xmlns="" xmlns:a16="http://schemas.microsoft.com/office/drawing/2014/main" id="{4D26C524-0AC2-12EA-AAE1-AD5C5A627462}"/>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graphicFrame>
        <p:nvGraphicFramePr>
          <p:cNvPr id="4" name="Table 3">
            <a:extLst>
              <a:ext uri="{FF2B5EF4-FFF2-40B4-BE49-F238E27FC236}">
                <a16:creationId xmlns="" xmlns:a16="http://schemas.microsoft.com/office/drawing/2014/main" id="{76168698-3310-B78D-615E-6043DECCB539}"/>
              </a:ext>
            </a:extLst>
          </p:cNvPr>
          <p:cNvGraphicFramePr>
            <a:graphicFrameLocks noGrp="1"/>
          </p:cNvGraphicFramePr>
          <p:nvPr>
            <p:extLst>
              <p:ext uri="{D42A27DB-BD31-4B8C-83A1-F6EECF244321}">
                <p14:modId xmlns:p14="http://schemas.microsoft.com/office/powerpoint/2010/main" val="4007670708"/>
              </p:ext>
            </p:extLst>
          </p:nvPr>
        </p:nvGraphicFramePr>
        <p:xfrm>
          <a:off x="1096963" y="2031023"/>
          <a:ext cx="10083922" cy="4006416"/>
        </p:xfrm>
        <a:graphic>
          <a:graphicData uri="http://schemas.openxmlformats.org/drawingml/2006/table">
            <a:tbl>
              <a:tblPr firstRow="1" firstCol="1" lastRow="1" lastCol="1" bandRow="1" bandCol="1">
                <a:tableStyleId>{2D42FD62-2D95-49B5-AAF5-B657BEC087FE}</a:tableStyleId>
              </a:tblPr>
              <a:tblGrid>
                <a:gridCol w="812306">
                  <a:extLst>
                    <a:ext uri="{9D8B030D-6E8A-4147-A177-3AD203B41FA5}">
                      <a16:colId xmlns="" xmlns:a16="http://schemas.microsoft.com/office/drawing/2014/main" val="388841265"/>
                    </a:ext>
                  </a:extLst>
                </a:gridCol>
                <a:gridCol w="3208784">
                  <a:extLst>
                    <a:ext uri="{9D8B030D-6E8A-4147-A177-3AD203B41FA5}">
                      <a16:colId xmlns="" xmlns:a16="http://schemas.microsoft.com/office/drawing/2014/main" val="3548707315"/>
                    </a:ext>
                  </a:extLst>
                </a:gridCol>
                <a:gridCol w="1460533">
                  <a:extLst>
                    <a:ext uri="{9D8B030D-6E8A-4147-A177-3AD203B41FA5}">
                      <a16:colId xmlns="" xmlns:a16="http://schemas.microsoft.com/office/drawing/2014/main" val="256013829"/>
                    </a:ext>
                  </a:extLst>
                </a:gridCol>
                <a:gridCol w="2492384">
                  <a:extLst>
                    <a:ext uri="{9D8B030D-6E8A-4147-A177-3AD203B41FA5}">
                      <a16:colId xmlns="" xmlns:a16="http://schemas.microsoft.com/office/drawing/2014/main" val="3788573207"/>
                    </a:ext>
                  </a:extLst>
                </a:gridCol>
                <a:gridCol w="2109915">
                  <a:extLst>
                    <a:ext uri="{9D8B030D-6E8A-4147-A177-3AD203B41FA5}">
                      <a16:colId xmlns="" xmlns:a16="http://schemas.microsoft.com/office/drawing/2014/main" val="3315847460"/>
                    </a:ext>
                  </a:extLst>
                </a:gridCol>
              </a:tblGrid>
              <a:tr h="288315">
                <a:tc>
                  <a:txBody>
                    <a:bodyPr/>
                    <a:lstStyle/>
                    <a:p>
                      <a:pPr marL="67945" algn="ctr">
                        <a:lnSpc>
                          <a:spcPts val="1375"/>
                        </a:lnSpc>
                        <a:buNone/>
                      </a:pPr>
                      <a:r>
                        <a:rPr lang="en-US" sz="1400" b="1" spc="-20" dirty="0">
                          <a:effectLst/>
                          <a:latin typeface="Times New Roman" panose="02020603050405020304" pitchFamily="18" charset="0"/>
                          <a:cs typeface="Times New Roman" panose="02020603050405020304" pitchFamily="18" charset="0"/>
                        </a:rPr>
                        <a:t>S. No</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US" sz="1400" b="1" spc="-10">
                          <a:effectLst/>
                          <a:latin typeface="Times New Roman" panose="02020603050405020304" pitchFamily="18" charset="0"/>
                          <a:cs typeface="Times New Roman" panose="02020603050405020304" pitchFamily="18" charset="0"/>
                        </a:rPr>
                        <a:t>Title</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ct val="116000"/>
                        </a:lnSpc>
                        <a:buNone/>
                      </a:pPr>
                      <a:r>
                        <a:rPr lang="en-US" sz="1400" b="1" spc="-10">
                          <a:effectLst/>
                          <a:latin typeface="Times New Roman" panose="02020603050405020304" pitchFamily="18" charset="0"/>
                          <a:cs typeface="Times New Roman" panose="02020603050405020304" pitchFamily="18" charset="0"/>
                        </a:rPr>
                        <a:t>Published </a:t>
                      </a:r>
                      <a:r>
                        <a:rPr lang="en-US" sz="1400" b="1" spc="-20">
                          <a:effectLst/>
                          <a:latin typeface="Times New Roman" panose="02020603050405020304" pitchFamily="18" charset="0"/>
                          <a:cs typeface="Times New Roman" panose="02020603050405020304" pitchFamily="18" charset="0"/>
                        </a:rPr>
                        <a:t>Year</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algn="ctr">
                        <a:lnSpc>
                          <a:spcPts val="1375"/>
                        </a:lnSpc>
                        <a:buNone/>
                      </a:pPr>
                      <a:r>
                        <a:rPr lang="en-US" sz="1400" b="1" spc="-10">
                          <a:effectLst/>
                          <a:latin typeface="Times New Roman" panose="02020603050405020304" pitchFamily="18" charset="0"/>
                          <a:cs typeface="Times New Roman" panose="02020603050405020304" pitchFamily="18" charset="0"/>
                        </a:rPr>
                        <a:t>Observation</a:t>
                      </a:r>
                      <a:endParaRPr lang="en-IN" sz="1400" b="1">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ts val="1375"/>
                        </a:lnSpc>
                        <a:buNone/>
                      </a:pPr>
                      <a:r>
                        <a:rPr lang="en-US" sz="1400" b="1" spc="-10" dirty="0">
                          <a:effectLst/>
                          <a:latin typeface="Times New Roman" panose="02020603050405020304" pitchFamily="18" charset="0"/>
                          <a:cs typeface="Times New Roman" panose="02020603050405020304" pitchFamily="18" charset="0"/>
                        </a:rPr>
                        <a:t>Methodology</a:t>
                      </a:r>
                      <a:endPar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1561892975"/>
                  </a:ext>
                </a:extLst>
              </a:tr>
              <a:tr h="750775">
                <a:tc>
                  <a:txBody>
                    <a:bodyPr/>
                    <a:lstStyle/>
                    <a:p>
                      <a:pPr marL="67945" algn="ctr">
                        <a:lnSpc>
                          <a:spcPts val="1375"/>
                        </a:lnSpc>
                        <a:buNone/>
                      </a:pPr>
                      <a:r>
                        <a:rPr lang="en-US" sz="1400" spc="-50">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US" sz="1400" dirty="0" smtClean="0"/>
                        <a:t>Predictive Maintenance using Machine Learning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ts val="1375"/>
                        </a:lnSpc>
                        <a:buNone/>
                      </a:pPr>
                      <a:r>
                        <a:rPr lang="en-US" sz="1400" spc="-20" dirty="0" smtClean="0">
                          <a:effectLst/>
                          <a:latin typeface="Times New Roman" panose="02020603050405020304" pitchFamily="18" charset="0"/>
                          <a:ea typeface="Times New Roman" panose="02020603050405020304" pitchFamily="18" charset="0"/>
                          <a:cs typeface="Times New Roman" panose="02020603050405020304" pitchFamily="18" charset="0"/>
                        </a:rPr>
                        <a:t>2021</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150495" algn="ctr">
                        <a:lnSpc>
                          <a:spcPct val="115000"/>
                        </a:lnSpc>
                        <a:buNone/>
                      </a:pPr>
                      <a:r>
                        <a:rPr lang="en-US" sz="1400" dirty="0" smtClean="0"/>
                        <a:t>Improved failure prediction but required large datasets and computational resources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ct val="115000"/>
                        </a:lnSpc>
                        <a:buNone/>
                      </a:pPr>
                      <a:r>
                        <a:rPr lang="en-US" sz="1400" dirty="0" smtClean="0"/>
                        <a:t>Machine learning models used for predicting device failures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2945262248"/>
                  </a:ext>
                </a:extLst>
              </a:tr>
              <a:tr h="708143">
                <a:tc>
                  <a:txBody>
                    <a:bodyPr/>
                    <a:lstStyle/>
                    <a:p>
                      <a:pPr marL="67945" algn="ctr">
                        <a:lnSpc>
                          <a:spcPts val="1375"/>
                        </a:lnSpc>
                        <a:buNone/>
                      </a:pPr>
                      <a:r>
                        <a:rPr lang="en-US" sz="1400" spc="-50">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US" sz="1400" dirty="0" smtClean="0"/>
                        <a:t>Lifecycle Management of Electronic Devices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ts val="1375"/>
                        </a:lnSpc>
                        <a:buNone/>
                      </a:pPr>
                      <a:r>
                        <a:rPr lang="en-US" sz="1400" spc="-20">
                          <a:effectLst/>
                          <a:latin typeface="Times New Roman" panose="02020603050405020304" pitchFamily="18" charset="0"/>
                          <a:ea typeface="Times New Roman" panose="02020603050405020304" pitchFamily="18" charset="0"/>
                          <a:cs typeface="Times New Roman" panose="02020603050405020304" pitchFamily="18" charset="0"/>
                        </a:rPr>
                        <a:t>2022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150495" algn="ctr">
                        <a:lnSpc>
                          <a:spcPct val="115000"/>
                        </a:lnSpc>
                        <a:buNone/>
                      </a:pPr>
                      <a:r>
                        <a:rPr lang="en-US" sz="1400" dirty="0" smtClean="0"/>
                        <a:t>Highlighted importance of lifecycle tracking but lacked real-time alerts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ct val="115000"/>
                        </a:lnSpc>
                        <a:buNone/>
                      </a:pPr>
                      <a:r>
                        <a:rPr lang="en-US" sz="1400" dirty="0" smtClean="0"/>
                        <a:t>Usage-based lifecycle estimation and replacement planning</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807162074"/>
                  </a:ext>
                </a:extLst>
              </a:tr>
              <a:tr h="759050">
                <a:tc>
                  <a:txBody>
                    <a:bodyPr/>
                    <a:lstStyle/>
                    <a:p>
                      <a:pPr marL="67945" algn="ctr">
                        <a:lnSpc>
                          <a:spcPts val="1375"/>
                        </a:lnSpc>
                        <a:buNone/>
                      </a:pPr>
                      <a:r>
                        <a:rPr lang="en-US" sz="1400" spc="-50">
                          <a:effectLst/>
                          <a:latin typeface="Times New Roman" panose="02020603050405020304" pitchFamily="18" charset="0"/>
                          <a:ea typeface="Times New Roman" panose="02020603050405020304" pitchFamily="18" charset="0"/>
                          <a:cs typeface="Times New Roman" panose="02020603050405020304" pitchFamily="18" charset="0"/>
                        </a:rPr>
                        <a:t>8</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US" sz="1400" dirty="0" smtClean="0"/>
                        <a:t>Review on E-Waste Management Systems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ts val="1375"/>
                        </a:lnSpc>
                        <a:buNone/>
                      </a:pPr>
                      <a:r>
                        <a:rPr lang="en-US" sz="1400" spc="-20">
                          <a:effectLst/>
                          <a:latin typeface="Times New Roman" panose="02020603050405020304" pitchFamily="18" charset="0"/>
                          <a:ea typeface="Times New Roman" panose="02020603050405020304" pitchFamily="18" charset="0"/>
                          <a:cs typeface="Times New Roman" panose="02020603050405020304" pitchFamily="18" charset="0"/>
                        </a:rPr>
                        <a:t>2022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150495" algn="ctr">
                        <a:lnSpc>
                          <a:spcPct val="115000"/>
                        </a:lnSpc>
                        <a:buNone/>
                      </a:pPr>
                      <a:r>
                        <a:rPr lang="en-US" sz="1400" dirty="0" smtClean="0"/>
                        <a:t>Identified need for integrated systems combining monitoring and analytics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ct val="115000"/>
                        </a:lnSpc>
                        <a:buNone/>
                      </a:pPr>
                      <a:r>
                        <a:rPr lang="en-US" sz="1400" dirty="0" smtClean="0"/>
                        <a:t>Analysis of multiple e-waste management approaches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1752798351"/>
                  </a:ext>
                </a:extLst>
              </a:tr>
              <a:tr h="635160">
                <a:tc>
                  <a:txBody>
                    <a:bodyPr/>
                    <a:lstStyle/>
                    <a:p>
                      <a:pPr marL="67945" algn="ctr">
                        <a:lnSpc>
                          <a:spcPts val="1375"/>
                        </a:lnSpc>
                        <a:buNone/>
                      </a:pPr>
                      <a:r>
                        <a:rPr lang="en-US" sz="1400" spc="-50">
                          <a:effectLst/>
                          <a:latin typeface="Times New Roman" panose="02020603050405020304" pitchFamily="18" charset="0"/>
                          <a:ea typeface="Times New Roman" panose="02020603050405020304" pitchFamily="18" charset="0"/>
                          <a:cs typeface="Times New Roman" panose="02020603050405020304" pitchFamily="18" charset="0"/>
                        </a:rPr>
                        <a:t>9</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IN" sz="1400" dirty="0" smtClean="0"/>
                        <a:t>Data-Driven E-Waste Analysis System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US" sz="1400" spc="-20" dirty="0" smtClean="0">
                          <a:effectLst/>
                          <a:latin typeface="Times New Roman" panose="02020603050405020304" pitchFamily="18" charset="0"/>
                          <a:ea typeface="Times New Roman" panose="02020603050405020304" pitchFamily="18" charset="0"/>
                          <a:cs typeface="Times New Roman" panose="02020603050405020304" pitchFamily="18" charset="0"/>
                        </a:rPr>
                        <a:t>2023</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150495" algn="ctr">
                        <a:lnSpc>
                          <a:spcPct val="115000"/>
                        </a:lnSpc>
                        <a:buNone/>
                      </a:pPr>
                      <a:r>
                        <a:rPr lang="en-US" sz="1400" dirty="0" smtClean="0"/>
                        <a:t>Provided trend analysis but limited real-time monitoring capability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ct val="115000"/>
                        </a:lnSpc>
                        <a:buNone/>
                      </a:pPr>
                      <a:r>
                        <a:rPr lang="en-US" sz="1400" dirty="0" smtClean="0"/>
                        <a:t>Data analytics used for studying e-waste generation patterns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536093948"/>
                  </a:ext>
                </a:extLst>
              </a:tr>
              <a:tr h="708360">
                <a:tc>
                  <a:txBody>
                    <a:bodyPr/>
                    <a:lstStyle/>
                    <a:p>
                      <a:pPr marL="67945" algn="ctr">
                        <a:lnSpc>
                          <a:spcPts val="1375"/>
                        </a:lnSpc>
                        <a:buNone/>
                      </a:pPr>
                      <a:r>
                        <a:rPr lang="en-US" sz="1400" spc="-5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945" algn="ctr">
                        <a:lnSpc>
                          <a:spcPts val="1375"/>
                        </a:lnSpc>
                        <a:buNone/>
                      </a:pPr>
                      <a:r>
                        <a:rPr lang="en-IN" sz="1400" dirty="0" smtClean="0"/>
                        <a:t>Smart Integrated E-Waste Management Platform</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8580" algn="ctr">
                        <a:lnSpc>
                          <a:spcPts val="1375"/>
                        </a:lnSpc>
                        <a:buNone/>
                      </a:pPr>
                      <a:r>
                        <a:rPr lang="en-US" sz="1400" spc="-20">
                          <a:effectLst/>
                          <a:latin typeface="Times New Roman" panose="02020603050405020304" pitchFamily="18" charset="0"/>
                          <a:ea typeface="Times New Roman" panose="02020603050405020304" pitchFamily="18" charset="0"/>
                          <a:cs typeface="Times New Roman" panose="02020603050405020304" pitchFamily="18" charset="0"/>
                        </a:rPr>
                        <a:t>2022</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215" marR="150495" algn="ctr">
                        <a:lnSpc>
                          <a:spcPct val="115000"/>
                        </a:lnSpc>
                        <a:buNone/>
                      </a:pPr>
                      <a:r>
                        <a:rPr lang="en-US" sz="1400" dirty="0" smtClean="0"/>
                        <a:t>Combined multiple technologies but increased system complexity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9850" algn="ctr">
                        <a:lnSpc>
                          <a:spcPct val="115000"/>
                        </a:lnSpc>
                        <a:buNone/>
                      </a:pPr>
                      <a:r>
                        <a:rPr lang="en-US" sz="1400" dirty="0" smtClean="0"/>
                        <a:t>Integration of </a:t>
                      </a:r>
                      <a:r>
                        <a:rPr lang="en-US" sz="1400" dirty="0" err="1" smtClean="0"/>
                        <a:t>IoT</a:t>
                      </a:r>
                      <a:r>
                        <a:rPr lang="en-US" sz="1400" dirty="0" smtClean="0"/>
                        <a:t>, AI, and analytics for smart waste management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 xmlns:a16="http://schemas.microsoft.com/office/drawing/2014/main" val="2839645859"/>
                  </a:ext>
                </a:extLst>
              </a:tr>
            </a:tbl>
          </a:graphicData>
        </a:graphic>
      </p:graphicFrame>
    </p:spTree>
    <p:extLst>
      <p:ext uri="{BB962C8B-B14F-4D97-AF65-F5344CB8AC3E}">
        <p14:creationId xmlns:p14="http://schemas.microsoft.com/office/powerpoint/2010/main" val="159629056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F2BF0510-2831-7B33-5773-D516E955F7E0}"/>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22BB4840-655D-0689-461B-B67249FEB71D}"/>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pPr algn="just">
              <a:spcBef>
                <a:spcPts val="1400"/>
              </a:spcBef>
            </a:pPr>
            <a:r>
              <a:rPr lang="en-US" b="1" dirty="0">
                <a:latin typeface="Times New Roman" panose="02020603050405020304" pitchFamily="18" charset="0"/>
                <a:cs typeface="Times New Roman" panose="02020603050405020304" pitchFamily="18" charset="0"/>
              </a:rPr>
              <a:t>Block Diagram / Architecture</a:t>
            </a:r>
            <a:endParaRPr lang="en-US" b="1" dirty="0">
              <a:solidFill>
                <a:schemeClr val="dk1"/>
              </a:solidFill>
              <a:latin typeface="Times New Roman" panose="02020603050405020304" pitchFamily="18" charset="0"/>
              <a:cs typeface="Times New Roman" panose="02020603050405020304" pitchFamily="18" charset="0"/>
            </a:endParaRPr>
          </a:p>
        </p:txBody>
      </p:sp>
      <p:sp>
        <p:nvSpPr>
          <p:cNvPr id="3" name="Google Shape;125;p1">
            <a:extLst>
              <a:ext uri="{FF2B5EF4-FFF2-40B4-BE49-F238E27FC236}">
                <a16:creationId xmlns="" xmlns:a16="http://schemas.microsoft.com/office/drawing/2014/main" id="{0E4CB517-8B59-113A-1803-91E026835059}"/>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7983" y="1969552"/>
            <a:ext cx="5577965" cy="4271445"/>
          </a:xfrm>
          <a:prstGeom prst="rect">
            <a:avLst/>
          </a:prstGeom>
        </p:spPr>
      </p:pic>
    </p:spTree>
    <p:extLst>
      <p:ext uri="{BB962C8B-B14F-4D97-AF65-F5344CB8AC3E}">
        <p14:creationId xmlns:p14="http://schemas.microsoft.com/office/powerpoint/2010/main" val="14437369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F2EB5751-3272-DAC5-C758-D52B578391B6}"/>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6C1C03D3-6FEB-7D9A-D970-00B3AA0AFE1E}"/>
              </a:ext>
            </a:extLst>
          </p:cNvPr>
          <p:cNvSpPr txBox="1">
            <a:spLocks noGrp="1"/>
          </p:cNvSpPr>
          <p:nvPr>
            <p:ph type="title"/>
          </p:nvPr>
        </p:nvSpPr>
        <p:spPr>
          <a:xfrm>
            <a:off x="1117158" y="322124"/>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Proposed Work</a:t>
            </a:r>
            <a:endParaRPr dirty="0"/>
          </a:p>
        </p:txBody>
      </p:sp>
      <p:sp>
        <p:nvSpPr>
          <p:cNvPr id="3" name="Google Shape;125;p1">
            <a:extLst>
              <a:ext uri="{FF2B5EF4-FFF2-40B4-BE49-F238E27FC236}">
                <a16:creationId xmlns="" xmlns:a16="http://schemas.microsoft.com/office/drawing/2014/main" id="{939DA245-AE13-B806-0444-4CA4A0758B42}"/>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
        <p:nvSpPr>
          <p:cNvPr id="5" name="Rectangle 3"/>
          <p:cNvSpPr>
            <a:spLocks noGrp="1" noChangeArrowheads="1"/>
          </p:cNvSpPr>
          <p:nvPr>
            <p:ph type="body" idx="1"/>
          </p:nvPr>
        </p:nvSpPr>
        <p:spPr bwMode="auto">
          <a:xfrm>
            <a:off x="1117158" y="1672120"/>
            <a:ext cx="8348429"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Develop a web-based e-waste and battery management system</a:t>
            </a:r>
          </a:p>
          <a:p>
            <a:pPr marL="0" marR="0" lvl="0" indent="0" algn="just" defTabSz="914400" rtl="0" eaLnBrk="0" fontAlgn="base" latinLnBrk="0" hangingPunct="0">
              <a:lnSpc>
                <a:spcPct val="100000"/>
              </a:lnSpc>
              <a:spcBef>
                <a:spcPct val="0"/>
              </a:spcBef>
              <a:spcAft>
                <a:spcPct val="0"/>
              </a:spcAft>
              <a:buClrTx/>
              <a:buSzTx/>
              <a:buNone/>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Monitor battery parameters using rule-based evaluation</a:t>
            </a:r>
          </a:p>
          <a:p>
            <a:pPr marL="0" marR="0" lvl="0" indent="0" algn="just" defTabSz="914400" rtl="0" eaLnBrk="0" fontAlgn="base" latinLnBrk="0" hangingPunct="0">
              <a:lnSpc>
                <a:spcPct val="100000"/>
              </a:lnSpc>
              <a:spcBef>
                <a:spcPct val="0"/>
              </a:spcBef>
              <a:spcAft>
                <a:spcPct val="0"/>
              </a:spcAft>
              <a:buClrTx/>
              <a:buSzTx/>
              <a:buNone/>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Register and track electronic devices centrally</a:t>
            </a:r>
          </a:p>
          <a:p>
            <a:pPr marL="0" marR="0" lvl="0" indent="0" algn="just" defTabSz="914400" rtl="0" eaLnBrk="0" fontAlgn="base" latinLnBrk="0" hangingPunct="0">
              <a:lnSpc>
                <a:spcPct val="100000"/>
              </a:lnSpc>
              <a:spcBef>
                <a:spcPct val="0"/>
              </a:spcBef>
              <a:spcAft>
                <a:spcPct val="0"/>
              </a:spcAft>
              <a:buClrTx/>
              <a:buSzTx/>
              <a:buNone/>
              <a:tabLst/>
            </a:pPr>
            <a:endPar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Generate alerts for maintenance and replacement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Maintain lifecycle records of devices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Provide analytics dashboard for monitoring and decision-making</a:t>
            </a:r>
          </a:p>
          <a:p>
            <a:pPr marL="0" marR="0" lvl="0" indent="0" algn="just" defTabSz="914400" rtl="0" eaLnBrk="0" fontAlgn="base" latinLnBrk="0" hangingPunct="0">
              <a:lnSpc>
                <a:spcPct val="100000"/>
              </a:lnSpc>
              <a:spcBef>
                <a:spcPct val="0"/>
              </a:spcBef>
              <a:spcAft>
                <a:spcPct val="0"/>
              </a:spcAft>
              <a:buClrTx/>
              <a:buSzTx/>
              <a:buNone/>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sz="21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Support sustainable e-waste management practices </a:t>
            </a:r>
          </a:p>
        </p:txBody>
      </p:sp>
    </p:spTree>
    <p:extLst>
      <p:ext uri="{BB962C8B-B14F-4D97-AF65-F5344CB8AC3E}">
        <p14:creationId xmlns:p14="http://schemas.microsoft.com/office/powerpoint/2010/main" val="8059885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46BF152F-6069-9EFB-55BE-0896C303B0E0}"/>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2C2510D2-9D8C-6E55-5D35-5CC2B9EBEB4D}"/>
              </a:ext>
            </a:extLst>
          </p:cNvPr>
          <p:cNvSpPr txBox="1">
            <a:spLocks noGrp="1"/>
          </p:cNvSpPr>
          <p:nvPr>
            <p:ph type="title"/>
          </p:nvPr>
        </p:nvSpPr>
        <p:spPr>
          <a:xfrm>
            <a:off x="1293733" y="305453"/>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Flow chart</a:t>
            </a:r>
            <a:endParaRPr dirty="0"/>
          </a:p>
        </p:txBody>
      </p:sp>
      <p:sp>
        <p:nvSpPr>
          <p:cNvPr id="7" name="Google Shape;125;p1">
            <a:extLst>
              <a:ext uri="{FF2B5EF4-FFF2-40B4-BE49-F238E27FC236}">
                <a16:creationId xmlns="" xmlns:a16="http://schemas.microsoft.com/office/drawing/2014/main" id="{286EF2B2-6ADB-2D08-1873-A620FCECF049}"/>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497" y="1900760"/>
            <a:ext cx="5706533" cy="4427144"/>
          </a:xfrm>
          <a:prstGeom prst="rect">
            <a:avLst/>
          </a:prstGeom>
        </p:spPr>
      </p:pic>
    </p:spTree>
    <p:extLst>
      <p:ext uri="{BB962C8B-B14F-4D97-AF65-F5344CB8AC3E}">
        <p14:creationId xmlns:p14="http://schemas.microsoft.com/office/powerpoint/2010/main" val="38555630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37EAF65E-F946-6309-A230-ADD5927C0A9E}"/>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BC61EC7C-55B2-6131-21F2-722AB1E3732A}"/>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Design and Implementation</a:t>
            </a:r>
            <a:endParaRPr dirty="0"/>
          </a:p>
        </p:txBody>
      </p:sp>
      <p:sp>
        <p:nvSpPr>
          <p:cNvPr id="149" name="Google Shape;149;p4">
            <a:extLst>
              <a:ext uri="{FF2B5EF4-FFF2-40B4-BE49-F238E27FC236}">
                <a16:creationId xmlns="" xmlns:a16="http://schemas.microsoft.com/office/drawing/2014/main" id="{09402BDD-9E62-2C83-7FB6-4D6F25FBF4E8}"/>
              </a:ext>
            </a:extLst>
          </p:cNvPr>
          <p:cNvSpPr txBox="1">
            <a:spLocks noGrp="1"/>
          </p:cNvSpPr>
          <p:nvPr>
            <p:ph type="body" idx="1"/>
          </p:nvPr>
        </p:nvSpPr>
        <p:spPr>
          <a:xfrm>
            <a:off x="1096963" y="1933574"/>
            <a:ext cx="10515600" cy="4343400"/>
          </a:xfrm>
          <a:prstGeom prst="rect">
            <a:avLst/>
          </a:prstGeom>
          <a:noFill/>
          <a:ln>
            <a:noFill/>
          </a:ln>
        </p:spPr>
        <p:txBody>
          <a:bodyPr spcFirstLastPara="1" wrap="square" lIns="0" tIns="45700" rIns="0" bIns="45700" anchor="t" anchorCtr="0">
            <a:noAutofit/>
          </a:bodyPr>
          <a:lstStyle/>
          <a:p>
            <a:pPr marL="88900" indent="-88900" algn="just"/>
            <a:r>
              <a:rPr lang="en-US" sz="2100" dirty="0" smtClean="0">
                <a:latin typeface="Times New Roman" panose="02020603050405020304" pitchFamily="18" charset="0"/>
                <a:cs typeface="Times New Roman" panose="02020603050405020304" pitchFamily="18" charset="0"/>
              </a:rPr>
              <a:t>The proposed system is a web-based software solution designed using a modular architecture. It is developed using standard frontend and backend technologies with a centralized database to store device and lifecycle information. The system includes modules for device registration, maintenance data entry, battery condition evaluation, alert generation, and analytics. A rule-based approach is used to assess battery health based on input parameters. The dashboard provides visual reports for monitoring device performance and e-waste trends. The overall design ensures scalability, efficient data management, and a user-friendly interface for easy operation.</a:t>
            </a:r>
            <a:endParaRPr sz="2100" dirty="0">
              <a:latin typeface="Times New Roman" panose="02020603050405020304" pitchFamily="18" charset="0"/>
              <a:cs typeface="Times New Roman" panose="02020603050405020304" pitchFamily="18" charset="0"/>
            </a:endParaRPr>
          </a:p>
        </p:txBody>
      </p:sp>
      <p:sp>
        <p:nvSpPr>
          <p:cNvPr id="3" name="Google Shape;125;p1">
            <a:extLst>
              <a:ext uri="{FF2B5EF4-FFF2-40B4-BE49-F238E27FC236}">
                <a16:creationId xmlns="" xmlns:a16="http://schemas.microsoft.com/office/drawing/2014/main" id="{6298AC12-568B-9E7D-A4C7-5A48A7A70135}"/>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39374027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87C096F8-1B1D-6A38-048C-D2868F7A1172}"/>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A7DDF592-4A10-45B6-BC1B-62BB2E24CE58}"/>
              </a:ext>
            </a:extLst>
          </p:cNvPr>
          <p:cNvSpPr txBox="1">
            <a:spLocks noGrp="1"/>
          </p:cNvSpPr>
          <p:nvPr>
            <p:ph type="title"/>
          </p:nvPr>
        </p:nvSpPr>
        <p:spPr>
          <a:xfrm>
            <a:off x="503863" y="330460"/>
            <a:ext cx="9398000" cy="1449387"/>
          </a:xfrm>
          <a:prstGeom prst="rect">
            <a:avLst/>
          </a:prstGeom>
          <a:noFill/>
          <a:ln>
            <a:noFill/>
          </a:ln>
        </p:spPr>
        <p:txBody>
          <a:bodyPr spcFirstLastPara="1" wrap="square" lIns="91425" tIns="45700" rIns="91425" bIns="45700" anchor="b" anchorCtr="0">
            <a:normAutofit/>
          </a:bodyPr>
          <a:lstStyle/>
          <a:p>
            <a:pPr algn="just"/>
            <a:r>
              <a:rPr lang="en-US" b="1" dirty="0">
                <a:solidFill>
                  <a:schemeClr val="dk1"/>
                </a:solidFill>
                <a:latin typeface="Times New Roman"/>
                <a:cs typeface="Times New Roman"/>
              </a:rPr>
              <a:t>Software Design(Cont..) </a:t>
            </a:r>
            <a:endParaRPr dirty="0"/>
          </a:p>
        </p:txBody>
      </p:sp>
      <p:sp>
        <p:nvSpPr>
          <p:cNvPr id="3" name="Google Shape;125;p1">
            <a:extLst>
              <a:ext uri="{FF2B5EF4-FFF2-40B4-BE49-F238E27FC236}">
                <a16:creationId xmlns="" xmlns:a16="http://schemas.microsoft.com/office/drawing/2014/main" id="{2EFF8CA4-7C66-66F1-4BEA-A6B94F275AE4}"/>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2190" y="1993551"/>
            <a:ext cx="4592075" cy="440903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4344" y="1993552"/>
            <a:ext cx="4809065" cy="4409037"/>
          </a:xfrm>
          <a:prstGeom prst="rect">
            <a:avLst/>
          </a:prstGeom>
        </p:spPr>
      </p:pic>
    </p:spTree>
    <p:extLst>
      <p:ext uri="{BB962C8B-B14F-4D97-AF65-F5344CB8AC3E}">
        <p14:creationId xmlns:p14="http://schemas.microsoft.com/office/powerpoint/2010/main" val="7564230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b="1" dirty="0">
                <a:solidFill>
                  <a:schemeClr val="dk1"/>
                </a:solidFill>
                <a:latin typeface="Times New Roman"/>
                <a:cs typeface="Times New Roman"/>
              </a:rPr>
              <a:t>Software Design</a:t>
            </a:r>
            <a:r>
              <a:rPr lang="en-US" dirty="0" smtClean="0">
                <a:latin typeface="Times New Roman" panose="02020603050405020304" pitchFamily="18" charset="0"/>
                <a:cs typeface="Times New Roman" panose="02020603050405020304" pitchFamily="18" charset="0"/>
              </a:rPr>
              <a:t> </a:t>
            </a:r>
            <a:r>
              <a:rPr lang="en-US" b="1" dirty="0">
                <a:solidFill>
                  <a:schemeClr val="dk1"/>
                </a:solidFill>
                <a:latin typeface="Times New Roman"/>
                <a:cs typeface="Times New Roman"/>
              </a:rPr>
              <a:t>(Cont..)</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2757" y="2003391"/>
            <a:ext cx="4880113" cy="4278139"/>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348" y="2003391"/>
            <a:ext cx="4780722" cy="4278139"/>
          </a:xfrm>
          <a:prstGeom prst="rect">
            <a:avLst/>
          </a:prstGeom>
        </p:spPr>
      </p:pic>
    </p:spTree>
    <p:extLst>
      <p:ext uri="{BB962C8B-B14F-4D97-AF65-F5344CB8AC3E}">
        <p14:creationId xmlns:p14="http://schemas.microsoft.com/office/powerpoint/2010/main" val="32809592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640E62C4-7D27-3CE4-7C2A-23C1E3B4AB59}"/>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9DD47926-96A4-E9D5-E08D-F881A1CB6A93}"/>
              </a:ext>
            </a:extLst>
          </p:cNvPr>
          <p:cNvSpPr txBox="1">
            <a:spLocks noGrp="1"/>
          </p:cNvSpPr>
          <p:nvPr>
            <p:ph type="title"/>
          </p:nvPr>
        </p:nvSpPr>
        <p:spPr>
          <a:xfrm>
            <a:off x="1096963" y="296391"/>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Software Design (Cont..)</a:t>
            </a:r>
            <a:endParaRPr dirty="0"/>
          </a:p>
        </p:txBody>
      </p:sp>
      <p:sp>
        <p:nvSpPr>
          <p:cNvPr id="3" name="Google Shape;125;p1">
            <a:extLst>
              <a:ext uri="{FF2B5EF4-FFF2-40B4-BE49-F238E27FC236}">
                <a16:creationId xmlns="" xmlns:a16="http://schemas.microsoft.com/office/drawing/2014/main" id="{E1C4AE7D-926B-8577-562D-248492466A48}"/>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2208" y="1998316"/>
            <a:ext cx="4929809" cy="4146487"/>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9923" y="2032029"/>
            <a:ext cx="4734963" cy="4112773"/>
          </a:xfrm>
          <a:prstGeom prst="rect">
            <a:avLst/>
          </a:prstGeom>
        </p:spPr>
      </p:pic>
    </p:spTree>
    <p:extLst>
      <p:ext uri="{BB962C8B-B14F-4D97-AF65-F5344CB8AC3E}">
        <p14:creationId xmlns:p14="http://schemas.microsoft.com/office/powerpoint/2010/main" val="69864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BD952209-8427-2797-E7C0-186CF2C34BF5}"/>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B36485EA-02C6-6328-4214-3327D0F9F5C7}"/>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Comparison with Existing Method</a:t>
            </a:r>
            <a:endParaRPr dirty="0"/>
          </a:p>
        </p:txBody>
      </p:sp>
      <p:sp>
        <p:nvSpPr>
          <p:cNvPr id="3" name="Google Shape;125;p1">
            <a:extLst>
              <a:ext uri="{FF2B5EF4-FFF2-40B4-BE49-F238E27FC236}">
                <a16:creationId xmlns="" xmlns:a16="http://schemas.microsoft.com/office/drawing/2014/main" id="{E862007A-19C5-7492-1E1B-B292F10372E4}"/>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graphicFrame>
        <p:nvGraphicFramePr>
          <p:cNvPr id="8" name="Table 7"/>
          <p:cNvGraphicFramePr>
            <a:graphicFrameLocks noGrp="1"/>
          </p:cNvGraphicFramePr>
          <p:nvPr>
            <p:extLst>
              <p:ext uri="{D42A27DB-BD31-4B8C-83A1-F6EECF244321}">
                <p14:modId xmlns:p14="http://schemas.microsoft.com/office/powerpoint/2010/main" val="4045795194"/>
              </p:ext>
            </p:extLst>
          </p:nvPr>
        </p:nvGraphicFramePr>
        <p:xfrm>
          <a:off x="1096963" y="2317688"/>
          <a:ext cx="10058400" cy="2890107"/>
        </p:xfrm>
        <a:graphic>
          <a:graphicData uri="http://schemas.openxmlformats.org/drawingml/2006/table">
            <a:tbl>
              <a:tblPr/>
              <a:tblGrid>
                <a:gridCol w="3352800"/>
                <a:gridCol w="3352800"/>
                <a:gridCol w="3352800"/>
              </a:tblGrid>
              <a:tr h="756507">
                <a:tc>
                  <a:txBody>
                    <a:bodyPr/>
                    <a:lstStyle/>
                    <a:p>
                      <a:r>
                        <a:rPr lang="en-IN" dirty="0">
                          <a:solidFill>
                            <a:schemeClr val="accent6"/>
                          </a:solidFill>
                          <a:latin typeface="Times New Roman" panose="02020603050405020304" pitchFamily="18" charset="0"/>
                          <a:cs typeface="Times New Roman" panose="02020603050405020304" pitchFamily="18" charset="0"/>
                        </a:rPr>
                        <a:t>Feature</a:t>
                      </a:r>
                    </a:p>
                  </a:txBody>
                  <a:tcPr anchor="ctr">
                    <a:lnL>
                      <a:noFill/>
                    </a:lnL>
                    <a:lnR>
                      <a:noFill/>
                    </a:lnR>
                    <a:lnT>
                      <a:noFill/>
                    </a:lnT>
                    <a:lnB>
                      <a:noFill/>
                    </a:lnB>
                  </a:tcPr>
                </a:tc>
                <a:tc>
                  <a:txBody>
                    <a:bodyPr/>
                    <a:lstStyle/>
                    <a:p>
                      <a:r>
                        <a:rPr lang="en-IN" dirty="0">
                          <a:solidFill>
                            <a:schemeClr val="accent6"/>
                          </a:solidFill>
                          <a:latin typeface="Times New Roman" panose="02020603050405020304" pitchFamily="18" charset="0"/>
                          <a:cs typeface="Times New Roman" panose="02020603050405020304" pitchFamily="18" charset="0"/>
                        </a:rPr>
                        <a:t>Existing Method (Manual System)</a:t>
                      </a:r>
                    </a:p>
                  </a:txBody>
                  <a:tcPr anchor="ctr">
                    <a:lnL>
                      <a:noFill/>
                    </a:lnL>
                    <a:lnR>
                      <a:noFill/>
                    </a:lnR>
                    <a:lnT>
                      <a:noFill/>
                    </a:lnT>
                    <a:lnB>
                      <a:noFill/>
                    </a:lnB>
                  </a:tcPr>
                </a:tc>
                <a:tc>
                  <a:txBody>
                    <a:bodyPr/>
                    <a:lstStyle/>
                    <a:p>
                      <a:r>
                        <a:rPr lang="en-IN" dirty="0">
                          <a:solidFill>
                            <a:schemeClr val="accent6"/>
                          </a:solidFill>
                          <a:latin typeface="Times New Roman" panose="02020603050405020304" pitchFamily="18" charset="0"/>
                          <a:cs typeface="Times New Roman" panose="02020603050405020304" pitchFamily="18" charset="0"/>
                        </a:rPr>
                        <a:t>Proposed System</a:t>
                      </a:r>
                    </a:p>
                  </a:txBody>
                  <a:tcPr anchor="ctr">
                    <a:lnL>
                      <a:noFill/>
                    </a:lnL>
                    <a:lnR>
                      <a:noFill/>
                    </a:lnR>
                    <a:lnT>
                      <a:noFill/>
                    </a:lnT>
                    <a:lnB>
                      <a:noFill/>
                    </a:lnB>
                  </a:tcPr>
                </a:tc>
              </a:tr>
              <a:tr h="0">
                <a:tc>
                  <a:txBody>
                    <a:bodyPr/>
                    <a:lstStyle/>
                    <a:p>
                      <a:r>
                        <a:rPr lang="en-IN" dirty="0">
                          <a:latin typeface="Times New Roman" panose="02020603050405020304" pitchFamily="18" charset="0"/>
                          <a:cs typeface="Times New Roman" panose="02020603050405020304" pitchFamily="18" charset="0"/>
                        </a:rPr>
                        <a:t>Device tracking</a:t>
                      </a:r>
                    </a:p>
                  </a:txBody>
                  <a:tcPr anchor="ctr">
                    <a:lnL>
                      <a:noFill/>
                    </a:lnL>
                    <a:lnR>
                      <a:noFill/>
                    </a:lnR>
                    <a:lnT>
                      <a:noFill/>
                    </a:lnT>
                    <a:lnB>
                      <a:noFill/>
                    </a:lnB>
                  </a:tcPr>
                </a:tc>
                <a:tc>
                  <a:txBody>
                    <a:bodyPr/>
                    <a:lstStyle/>
                    <a:p>
                      <a:r>
                        <a:rPr lang="en-IN" dirty="0">
                          <a:latin typeface="Times New Roman" panose="02020603050405020304" pitchFamily="18" charset="0"/>
                          <a:cs typeface="Times New Roman" panose="02020603050405020304" pitchFamily="18" charset="0"/>
                        </a:rPr>
                        <a:t>Manual records</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Centralized web-based tracking</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Battery monitoring</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No</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Yes</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Maintenance alerts</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No</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Yes</a:t>
                      </a:r>
                    </a:p>
                  </a:txBody>
                  <a:tcPr anchor="ctr">
                    <a:lnL>
                      <a:noFill/>
                    </a:lnL>
                    <a:lnR>
                      <a:noFill/>
                    </a:lnR>
                    <a:lnT>
                      <a:noFill/>
                    </a:lnT>
                    <a:lnB>
                      <a:noFill/>
                    </a:lnB>
                  </a:tcPr>
                </a:tc>
              </a:tr>
              <a:tr h="0">
                <a:tc>
                  <a:txBody>
                    <a:bodyPr/>
                    <a:lstStyle/>
                    <a:p>
                      <a:r>
                        <a:rPr lang="en-IN" dirty="0">
                          <a:latin typeface="Times New Roman" panose="02020603050405020304" pitchFamily="18" charset="0"/>
                          <a:cs typeface="Times New Roman" panose="02020603050405020304" pitchFamily="18" charset="0"/>
                        </a:rPr>
                        <a:t>Data management</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Paper/Excel based</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Central database</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Lifecycle tracking</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No</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Yes</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Analytics &amp; reports</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No</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Yes</a:t>
                      </a:r>
                    </a:p>
                  </a:txBody>
                  <a:tcPr anchor="ctr">
                    <a:lnL>
                      <a:noFill/>
                    </a:lnL>
                    <a:lnR>
                      <a:noFill/>
                    </a:lnR>
                    <a:lnT>
                      <a:noFill/>
                    </a:lnT>
                    <a:lnB>
                      <a:noFill/>
                    </a:lnB>
                  </a:tcPr>
                </a:tc>
              </a:tr>
              <a:tr h="0">
                <a:tc>
                  <a:txBody>
                    <a:bodyPr/>
                    <a:lstStyle/>
                    <a:p>
                      <a:r>
                        <a:rPr lang="en-IN">
                          <a:latin typeface="Times New Roman" panose="02020603050405020304" pitchFamily="18" charset="0"/>
                          <a:cs typeface="Times New Roman" panose="02020603050405020304" pitchFamily="18" charset="0"/>
                        </a:rPr>
                        <a:t>E-waste management</a:t>
                      </a:r>
                    </a:p>
                  </a:txBody>
                  <a:tcPr anchor="ctr">
                    <a:lnL>
                      <a:noFill/>
                    </a:lnL>
                    <a:lnR>
                      <a:noFill/>
                    </a:lnR>
                    <a:lnT>
                      <a:noFill/>
                    </a:lnT>
                    <a:lnB>
                      <a:noFill/>
                    </a:lnB>
                  </a:tcPr>
                </a:tc>
                <a:tc>
                  <a:txBody>
                    <a:bodyPr/>
                    <a:lstStyle/>
                    <a:p>
                      <a:r>
                        <a:rPr lang="en-IN">
                          <a:latin typeface="Times New Roman" panose="02020603050405020304" pitchFamily="18" charset="0"/>
                          <a:cs typeface="Times New Roman" panose="02020603050405020304" pitchFamily="18" charset="0"/>
                        </a:rPr>
                        <a:t>Limited</a:t>
                      </a:r>
                    </a:p>
                  </a:txBody>
                  <a:tcPr anchor="ctr">
                    <a:lnL>
                      <a:noFill/>
                    </a:lnL>
                    <a:lnR>
                      <a:noFill/>
                    </a:lnR>
                    <a:lnT>
                      <a:noFill/>
                    </a:lnT>
                    <a:lnB>
                      <a:noFill/>
                    </a:lnB>
                  </a:tcPr>
                </a:tc>
                <a:tc>
                  <a:txBody>
                    <a:bodyPr/>
                    <a:lstStyle/>
                    <a:p>
                      <a:r>
                        <a:rPr lang="en-IN" dirty="0">
                          <a:latin typeface="Times New Roman" panose="02020603050405020304" pitchFamily="18" charset="0"/>
                          <a:cs typeface="Times New Roman" panose="02020603050405020304" pitchFamily="18" charset="0"/>
                        </a:rPr>
                        <a:t>Efficient &amp; structured</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10138821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64D29701-3FA1-B2D1-FB66-3006DB0BB113}"/>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041AE84E-3902-C285-249F-3FAED1CD0DE9}"/>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Conclusion</a:t>
            </a:r>
            <a:endParaRPr lang="en-US" dirty="0"/>
          </a:p>
        </p:txBody>
      </p:sp>
      <p:sp>
        <p:nvSpPr>
          <p:cNvPr id="3" name="Google Shape;125;p1">
            <a:extLst>
              <a:ext uri="{FF2B5EF4-FFF2-40B4-BE49-F238E27FC236}">
                <a16:creationId xmlns="" xmlns:a16="http://schemas.microsoft.com/office/drawing/2014/main" id="{6FE10B57-CACF-8F00-4A0C-E65164FEF56E}"/>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
        <p:nvSpPr>
          <p:cNvPr id="5" name="TextBox 4">
            <a:extLst>
              <a:ext uri="{FF2B5EF4-FFF2-40B4-BE49-F238E27FC236}">
                <a16:creationId xmlns="" xmlns:a16="http://schemas.microsoft.com/office/drawing/2014/main" id="{E949A457-0C02-1346-BCCF-F026004C920C}"/>
              </a:ext>
            </a:extLst>
          </p:cNvPr>
          <p:cNvSpPr txBox="1"/>
          <p:nvPr/>
        </p:nvSpPr>
        <p:spPr>
          <a:xfrm>
            <a:off x="1239715" y="2197894"/>
            <a:ext cx="9873762" cy="2677656"/>
          </a:xfrm>
          <a:prstGeom prst="rect">
            <a:avLst/>
          </a:prstGeom>
          <a:noFill/>
        </p:spPr>
        <p:txBody>
          <a:bodyPr wrap="square">
            <a:spAutoFit/>
          </a:bodyPr>
          <a:lstStyle/>
          <a:p>
            <a:pPr algn="just"/>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proposed web-based e-waste and battery lifecycle management system provides an efficient solution for monitoring electronic devices and managing battery health. It overcomes the limitations of manual maintenance systems by offering centralized tracking, rule-based evaluation, and automated alert generation. The system improves maintenance planning, reduces unexpected failures, and enhances overall device reliability. In addition, the analytics dashboard supports better decision-making and promotes sustainable e-waste management practices. Overall, the system contributes to improved operational efficiency and environmental responsibility.</a:t>
            </a:r>
          </a:p>
        </p:txBody>
      </p:sp>
    </p:spTree>
    <p:extLst>
      <p:ext uri="{BB962C8B-B14F-4D97-AF65-F5344CB8AC3E}">
        <p14:creationId xmlns:p14="http://schemas.microsoft.com/office/powerpoint/2010/main" val="5870561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 xmlns:a16="http://schemas.microsoft.com/office/drawing/2014/main" id="{D83EA905-4606-AFA0-7500-CCF38571A2DB}"/>
            </a:ext>
          </a:extLst>
        </p:cNvPr>
        <p:cNvGrpSpPr/>
        <p:nvPr/>
      </p:nvGrpSpPr>
      <p:grpSpPr>
        <a:xfrm>
          <a:off x="0" y="0"/>
          <a:ext cx="0" cy="0"/>
          <a:chOff x="0" y="0"/>
          <a:chExt cx="0" cy="0"/>
        </a:xfrm>
      </p:grpSpPr>
      <p:sp>
        <p:nvSpPr>
          <p:cNvPr id="148" name="Google Shape;148;p4">
            <a:extLst>
              <a:ext uri="{FF2B5EF4-FFF2-40B4-BE49-F238E27FC236}">
                <a16:creationId xmlns="" xmlns:a16="http://schemas.microsoft.com/office/drawing/2014/main" id="{B264B2CD-D3CA-291F-5BA2-30801F88F680}"/>
              </a:ext>
            </a:extLst>
          </p:cNvPr>
          <p:cNvSpPr txBox="1">
            <a:spLocks noGrp="1"/>
          </p:cNvSpPr>
          <p:nvPr>
            <p:ph type="title"/>
          </p:nvPr>
        </p:nvSpPr>
        <p:spPr>
          <a:xfrm>
            <a:off x="1096963" y="287338"/>
            <a:ext cx="9398000" cy="1449387"/>
          </a:xfrm>
          <a:prstGeom prst="rect">
            <a:avLst/>
          </a:prstGeom>
          <a:noFill/>
          <a:ln>
            <a:noFill/>
          </a:ln>
        </p:spPr>
        <p:txBody>
          <a:bodyPr spcFirstLastPara="1" wrap="square" lIns="91425" tIns="45700" rIns="91425" bIns="45700" anchor="b" anchorCtr="0">
            <a:normAutofit/>
          </a:bodyPr>
          <a:lstStyle/>
          <a:p>
            <a:r>
              <a:rPr lang="en-US" b="1" dirty="0">
                <a:solidFill>
                  <a:schemeClr val="dk1"/>
                </a:solidFill>
                <a:latin typeface="Times New Roman"/>
                <a:cs typeface="Times New Roman"/>
              </a:rPr>
              <a:t>Future Work</a:t>
            </a:r>
            <a:endParaRPr lang="en-US" dirty="0"/>
          </a:p>
        </p:txBody>
      </p:sp>
      <p:sp>
        <p:nvSpPr>
          <p:cNvPr id="3" name="Google Shape;125;p1">
            <a:extLst>
              <a:ext uri="{FF2B5EF4-FFF2-40B4-BE49-F238E27FC236}">
                <a16:creationId xmlns="" xmlns:a16="http://schemas.microsoft.com/office/drawing/2014/main" id="{F6FB39DE-AC30-AC60-EE32-E5055A0A59BF}"/>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
        <p:nvSpPr>
          <p:cNvPr id="5" name="TextBox 4">
            <a:extLst>
              <a:ext uri="{FF2B5EF4-FFF2-40B4-BE49-F238E27FC236}">
                <a16:creationId xmlns="" xmlns:a16="http://schemas.microsoft.com/office/drawing/2014/main" id="{C8F6A40B-8948-E62D-C555-94B76275B56F}"/>
              </a:ext>
            </a:extLst>
          </p:cNvPr>
          <p:cNvSpPr txBox="1"/>
          <p:nvPr/>
        </p:nvSpPr>
        <p:spPr>
          <a:xfrm>
            <a:off x="1096963" y="2197894"/>
            <a:ext cx="9873762" cy="3000821"/>
          </a:xfrm>
          <a:prstGeom prst="rect">
            <a:avLst/>
          </a:prstGeom>
          <a:noFill/>
        </p:spPr>
        <p:txBody>
          <a:bodyPr wrap="square">
            <a:spAutoFit/>
          </a:bodyPr>
          <a:lstStyle/>
          <a:p>
            <a:r>
              <a:rPr lang="en-US" sz="2100" dirty="0">
                <a:latin typeface="Times New Roman" panose="02020603050405020304" pitchFamily="18" charset="0"/>
                <a:cs typeface="Times New Roman" panose="02020603050405020304" pitchFamily="18" charset="0"/>
              </a:rPr>
              <a:t>The proposed system can be further enhanced by integrating </a:t>
            </a:r>
            <a:r>
              <a:rPr lang="en-US" sz="2100" dirty="0" err="1">
                <a:latin typeface="Times New Roman" panose="02020603050405020304" pitchFamily="18" charset="0"/>
                <a:cs typeface="Times New Roman" panose="02020603050405020304" pitchFamily="18" charset="0"/>
              </a:rPr>
              <a:t>IoT</a:t>
            </a:r>
            <a:r>
              <a:rPr lang="en-US" sz="2100" dirty="0">
                <a:latin typeface="Times New Roman" panose="02020603050405020304" pitchFamily="18" charset="0"/>
                <a:cs typeface="Times New Roman" panose="02020603050405020304" pitchFamily="18" charset="0"/>
              </a:rPr>
              <a:t> sensors to enable automatic collection of battery parameters such as voltage, temperature, and charge cycles, reducing dependency on manual data entry. Machine learning techniques can be applied to predict battery failures at an early stage using historical data. The system can also be deployed on the cloud to support monitoring across multiple locations and improve scalability. In addition, advanced analytics can provide deeper insights for better decision-making. Future improvements may include smart classification of e-waste for reuse, recycling, or safe disposal, along with mobile application support for easier access and management.</a:t>
            </a:r>
          </a:p>
        </p:txBody>
      </p:sp>
    </p:spTree>
    <p:extLst>
      <p:ext uri="{BB962C8B-B14F-4D97-AF65-F5344CB8AC3E}">
        <p14:creationId xmlns:p14="http://schemas.microsoft.com/office/powerpoint/2010/main" val="33984282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8C1612-6FFE-4286-4054-A9C4213B971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ED7B90D2-2CBD-EF0E-DAA6-22667A6FCE60}"/>
              </a:ext>
            </a:extLst>
          </p:cNvPr>
          <p:cNvSpPr>
            <a:spLocks noGrp="1"/>
          </p:cNvSpPr>
          <p:nvPr>
            <p:ph type="body" idx="1"/>
          </p:nvPr>
        </p:nvSpPr>
        <p:spPr>
          <a:xfrm>
            <a:off x="824949" y="1579043"/>
            <a:ext cx="10217426" cy="1780384"/>
          </a:xfrm>
        </p:spPr>
        <p:txBody>
          <a:bodyPr/>
          <a:lstStyle/>
          <a:p>
            <a:pPr algn="just">
              <a:lnSpc>
                <a:spcPct val="150000"/>
              </a:lnSpc>
            </a:pPr>
            <a:r>
              <a:rPr lang="en-US"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1] REFERENCE F. N. A. </a:t>
            </a:r>
            <a:r>
              <a:rPr lang="en-IN" sz="2100" dirty="0" err="1">
                <a:latin typeface="Times New Roman" panose="02020603050405020304" pitchFamily="18" charset="0"/>
                <a:cs typeface="Times New Roman" panose="02020603050405020304" pitchFamily="18" charset="0"/>
              </a:rPr>
              <a:t>Shiby</a:t>
            </a:r>
            <a:r>
              <a:rPr lang="en-IN" sz="2100" dirty="0">
                <a:latin typeface="Times New Roman" panose="02020603050405020304" pitchFamily="18" charset="0"/>
                <a:cs typeface="Times New Roman" panose="02020603050405020304" pitchFamily="18" charset="0"/>
              </a:rPr>
              <a:t> and S. </a:t>
            </a:r>
            <a:r>
              <a:rPr lang="en-IN" sz="2100" dirty="0" err="1">
                <a:latin typeface="Times New Roman" panose="02020603050405020304" pitchFamily="18" charset="0"/>
                <a:cs typeface="Times New Roman" panose="02020603050405020304" pitchFamily="18" charset="0"/>
              </a:rPr>
              <a:t>Samatitha</a:t>
            </a:r>
            <a:r>
              <a:rPr lang="en-IN" sz="2100" dirty="0">
                <a:latin typeface="Times New Roman" panose="02020603050405020304" pitchFamily="18" charset="0"/>
                <a:cs typeface="Times New Roman" panose="02020603050405020304" pitchFamily="18" charset="0"/>
              </a:rPr>
              <a:t> </a:t>
            </a:r>
            <a:r>
              <a:rPr lang="en-IN" sz="2100" dirty="0" err="1">
                <a:latin typeface="Times New Roman" panose="02020603050405020304" pitchFamily="18" charset="0"/>
                <a:cs typeface="Times New Roman" panose="02020603050405020304" pitchFamily="18" charset="0"/>
              </a:rPr>
              <a:t>Wijegoda</a:t>
            </a:r>
            <a:r>
              <a:rPr lang="en-IN" sz="2100" dirty="0">
                <a:latin typeface="Times New Roman" panose="02020603050405020304" pitchFamily="18" charset="0"/>
                <a:cs typeface="Times New Roman" panose="02020603050405020304" pitchFamily="18" charset="0"/>
              </a:rPr>
              <a:t>, “Development of a web-based electronic waste management: A study with special reference to recycling companies in Sri Lanka,” International Journal of Engineering Research and Technology, vol. 7, no. 4, pp. 1–6, 2018. </a:t>
            </a:r>
            <a:endParaRPr lang="en-IN" sz="2100" dirty="0" smtClean="0">
              <a:latin typeface="Times New Roman" panose="02020603050405020304" pitchFamily="18" charset="0"/>
              <a:cs typeface="Times New Roman" panose="02020603050405020304" pitchFamily="18" charset="0"/>
            </a:endParaRPr>
          </a:p>
          <a:p>
            <a:pPr algn="just">
              <a:lnSpc>
                <a:spcPct val="150000"/>
              </a:lnSpc>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2] S. Armstrong, A. </a:t>
            </a:r>
            <a:r>
              <a:rPr lang="en-IN" sz="2100" dirty="0" err="1">
                <a:latin typeface="Times New Roman" panose="02020603050405020304" pitchFamily="18" charset="0"/>
                <a:cs typeface="Times New Roman" panose="02020603050405020304" pitchFamily="18" charset="0"/>
              </a:rPr>
              <a:t>Ghasemlou</a:t>
            </a:r>
            <a:r>
              <a:rPr lang="en-IN" sz="2100" dirty="0">
                <a:latin typeface="Times New Roman" panose="02020603050405020304" pitchFamily="18" charset="0"/>
                <a:cs typeface="Times New Roman" panose="02020603050405020304" pitchFamily="18" charset="0"/>
              </a:rPr>
              <a:t>, and I. A. </a:t>
            </a:r>
            <a:r>
              <a:rPr lang="en-IN" sz="2100" dirty="0" err="1">
                <a:latin typeface="Times New Roman" panose="02020603050405020304" pitchFamily="18" charset="0"/>
                <a:cs typeface="Times New Roman" panose="02020603050405020304" pitchFamily="18" charset="0"/>
              </a:rPr>
              <a:t>Hamed</a:t>
            </a:r>
            <a:r>
              <a:rPr lang="en-IN" sz="2100" dirty="0">
                <a:latin typeface="Times New Roman" panose="02020603050405020304" pitchFamily="18" charset="0"/>
                <a:cs typeface="Times New Roman" panose="02020603050405020304" pitchFamily="18" charset="0"/>
              </a:rPr>
              <a:t>, “E waste tracker: A platform to monitor e-waste from collection to recycling,” International Journal of Environmental Science and Technology, vol. 16, no. 2, pp. 1–8, 2019. </a:t>
            </a:r>
            <a:endParaRPr lang="en-IN" sz="2100" dirty="0" smtClean="0">
              <a:latin typeface="Times New Roman" panose="02020603050405020304" pitchFamily="18" charset="0"/>
              <a:cs typeface="Times New Roman" panose="02020603050405020304" pitchFamily="18" charset="0"/>
            </a:endParaRPr>
          </a:p>
          <a:p>
            <a:pPr algn="just">
              <a:lnSpc>
                <a:spcPct val="150000"/>
              </a:lnSpc>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3] S. T. Pr. Suma, “E-waste management system,” International Journal of Engineering and Technology, vol. 8, no. 4, pp. 210–215, 2021. </a:t>
            </a:r>
            <a:endParaRPr lang="en-IN" sz="2100" dirty="0" smtClean="0">
              <a:latin typeface="Times New Roman" panose="02020603050405020304" pitchFamily="18" charset="0"/>
              <a:cs typeface="Times New Roman" panose="02020603050405020304" pitchFamily="18" charset="0"/>
            </a:endParaRPr>
          </a:p>
          <a:p>
            <a:pPr algn="just">
              <a:lnSpc>
                <a:spcPct val="150000"/>
              </a:lnSpc>
            </a:pPr>
            <a:r>
              <a:rPr lang="en-IN" sz="2100" dirty="0" smtClean="0">
                <a:latin typeface="Times New Roman" panose="02020603050405020304" pitchFamily="18" charset="0"/>
                <a:cs typeface="Times New Roman" panose="02020603050405020304" pitchFamily="18" charset="0"/>
              </a:rPr>
              <a:t> </a:t>
            </a:r>
            <a:endParaRPr lang="en-IN" sz="2100" dirty="0">
              <a:latin typeface="Times New Roman" panose="02020603050405020304" pitchFamily="18" charset="0"/>
              <a:cs typeface="Times New Roman" panose="02020603050405020304" pitchFamily="18" charset="0"/>
            </a:endParaRPr>
          </a:p>
        </p:txBody>
      </p:sp>
      <p:sp>
        <p:nvSpPr>
          <p:cNvPr id="4" name="Google Shape;125;p1">
            <a:extLst>
              <a:ext uri="{FF2B5EF4-FFF2-40B4-BE49-F238E27FC236}">
                <a16:creationId xmlns="" xmlns:a16="http://schemas.microsoft.com/office/drawing/2014/main" id="{15D11664-1207-4D5E-5E20-CF25347F8352}"/>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150789858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r>
              <a:rPr lang="en-US" dirty="0">
                <a:latin typeface="Times New Roman" panose="02020603050405020304" pitchFamily="18" charset="0"/>
                <a:cs typeface="Times New Roman" panose="02020603050405020304" pitchFamily="18" charset="0"/>
              </a:rPr>
              <a:t> </a:t>
            </a:r>
            <a:r>
              <a:rPr lang="en-US" b="1" dirty="0">
                <a:solidFill>
                  <a:schemeClr val="dk1"/>
                </a:solidFill>
                <a:latin typeface="Times New Roman"/>
                <a:cs typeface="Times New Roman"/>
              </a:rPr>
              <a:t>(Cont..)</a:t>
            </a:r>
            <a:endParaRPr lang="en-IN" dirty="0"/>
          </a:p>
        </p:txBody>
      </p:sp>
      <p:sp>
        <p:nvSpPr>
          <p:cNvPr id="3" name="Text Placeholder 2"/>
          <p:cNvSpPr>
            <a:spLocks noGrp="1"/>
          </p:cNvSpPr>
          <p:nvPr>
            <p:ph type="body" idx="1"/>
          </p:nvPr>
        </p:nvSpPr>
        <p:spPr>
          <a:xfrm>
            <a:off x="834887" y="1818489"/>
            <a:ext cx="10267122" cy="4202066"/>
          </a:xfrm>
        </p:spPr>
        <p:txBody>
          <a:bodyPr/>
          <a:lstStyle/>
          <a:p>
            <a:pPr algn="just">
              <a:lnSpc>
                <a:spcPct val="150000"/>
              </a:lnSpc>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4] S. R. </a:t>
            </a:r>
            <a:r>
              <a:rPr lang="en-IN" sz="2100" dirty="0" err="1">
                <a:latin typeface="Times New Roman" panose="02020603050405020304" pitchFamily="18" charset="0"/>
                <a:cs typeface="Times New Roman" panose="02020603050405020304" pitchFamily="18" charset="0"/>
              </a:rPr>
              <a:t>Spoorthi</a:t>
            </a:r>
            <a:r>
              <a:rPr lang="en-IN" sz="2100" dirty="0">
                <a:latin typeface="Times New Roman" panose="02020603050405020304" pitchFamily="18" charset="0"/>
                <a:cs typeface="Times New Roman" panose="02020603050405020304" pitchFamily="18" charset="0"/>
              </a:rPr>
              <a:t>, “Web-based waste management system,” International Journal of Computer Science and Information Technology, vol. 9, no. 1, pp. 30–35, 2021</a:t>
            </a:r>
            <a:r>
              <a:rPr lang="en-IN" sz="2100" dirty="0" smtClean="0">
                <a:latin typeface="Times New Roman" panose="02020603050405020304" pitchFamily="18" charset="0"/>
                <a:cs typeface="Times New Roman" panose="02020603050405020304" pitchFamily="18" charset="0"/>
              </a:rPr>
              <a:t>.</a:t>
            </a:r>
          </a:p>
          <a:p>
            <a:pPr algn="just">
              <a:lnSpc>
                <a:spcPct val="150000"/>
              </a:lnSpc>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5] A. Kumar et al., “</a:t>
            </a:r>
            <a:r>
              <a:rPr lang="en-IN" sz="2100" dirty="0" err="1">
                <a:latin typeface="Times New Roman" panose="02020603050405020304" pitchFamily="18" charset="0"/>
                <a:cs typeface="Times New Roman" panose="02020603050405020304" pitchFamily="18" charset="0"/>
              </a:rPr>
              <a:t>IoT</a:t>
            </a:r>
            <a:r>
              <a:rPr lang="en-IN" sz="2100" dirty="0">
                <a:latin typeface="Times New Roman" panose="02020603050405020304" pitchFamily="18" charset="0"/>
                <a:cs typeface="Times New Roman" panose="02020603050405020304" pitchFamily="18" charset="0"/>
              </a:rPr>
              <a:t>-based smart e-waste management system,” International Journal of Smart Technology, 2020. [</a:t>
            </a:r>
          </a:p>
          <a:p>
            <a:pPr algn="just">
              <a:lnSpc>
                <a:spcPct val="150000"/>
              </a:lnSpc>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6] P. Ravi et al., “Electronic device maintenance monitoring system,” IEEE Access, 2021.</a:t>
            </a:r>
          </a:p>
          <a:p>
            <a:pPr algn="just">
              <a:lnSpc>
                <a:spcPct val="150000"/>
              </a:lnSpc>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7] D. Patel et al., “Cloud-based e-waste data management platform,” Journal of Environmental Informatics, 2020</a:t>
            </a:r>
            <a:r>
              <a:rPr lang="en-IN" sz="2100" dirty="0" smtClean="0">
                <a:latin typeface="Times New Roman" panose="02020603050405020304" pitchFamily="18" charset="0"/>
                <a:cs typeface="Times New Roman" panose="02020603050405020304" pitchFamily="18" charset="0"/>
              </a:rPr>
              <a:t>.. </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3324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r>
              <a:rPr lang="en-US" dirty="0">
                <a:latin typeface="Times New Roman" panose="02020603050405020304" pitchFamily="18" charset="0"/>
                <a:cs typeface="Times New Roman" panose="02020603050405020304" pitchFamily="18" charset="0"/>
              </a:rPr>
              <a:t> </a:t>
            </a:r>
            <a:r>
              <a:rPr lang="en-US" b="1" dirty="0">
                <a:solidFill>
                  <a:schemeClr val="dk1"/>
                </a:solidFill>
                <a:latin typeface="Times New Roman"/>
                <a:cs typeface="Times New Roman"/>
              </a:rPr>
              <a:t>(Cont..)</a:t>
            </a:r>
            <a:endParaRPr lang="en-IN" dirty="0"/>
          </a:p>
        </p:txBody>
      </p:sp>
      <p:sp>
        <p:nvSpPr>
          <p:cNvPr id="3" name="Text Placeholder 2"/>
          <p:cNvSpPr>
            <a:spLocks noGrp="1"/>
          </p:cNvSpPr>
          <p:nvPr>
            <p:ph type="body" idx="1"/>
          </p:nvPr>
        </p:nvSpPr>
        <p:spPr>
          <a:xfrm>
            <a:off x="1096963" y="1736725"/>
            <a:ext cx="10058400" cy="3760788"/>
          </a:xfrm>
        </p:spPr>
        <p:txBody>
          <a:bodyPr/>
          <a:lstStyle/>
          <a:p>
            <a:pPr marL="114300" indent="0" algn="just">
              <a:lnSpc>
                <a:spcPct val="150000"/>
              </a:lnSpc>
              <a:buNone/>
            </a:pPr>
            <a:r>
              <a:rPr lang="en-US" sz="2100" dirty="0" smtClean="0">
                <a:latin typeface="Times New Roman" panose="02020603050405020304" pitchFamily="18" charset="0"/>
                <a:cs typeface="Times New Roman" panose="02020603050405020304" pitchFamily="18" charset="0"/>
              </a:rPr>
              <a:t>[</a:t>
            </a:r>
            <a:r>
              <a:rPr lang="en-US" sz="2100" dirty="0">
                <a:latin typeface="Times New Roman" panose="02020603050405020304" pitchFamily="18" charset="0"/>
                <a:cs typeface="Times New Roman" panose="02020603050405020304" pitchFamily="18" charset="0"/>
              </a:rPr>
              <a:t>8] R. Singh et al., “Battery health monitoring using rule based systems,” International Journal of Energy Research, 2021. </a:t>
            </a:r>
            <a:endParaRPr lang="en-US" sz="2100" dirty="0" smtClean="0">
              <a:latin typeface="Times New Roman" panose="02020603050405020304" pitchFamily="18" charset="0"/>
              <a:cs typeface="Times New Roman" panose="02020603050405020304" pitchFamily="18" charset="0"/>
            </a:endParaRPr>
          </a:p>
          <a:p>
            <a:pPr marL="114300" indent="0">
              <a:buNone/>
            </a:pPr>
            <a:r>
              <a:rPr lang="en-IN" sz="2100" dirty="0">
                <a:latin typeface="Times New Roman" panose="02020603050405020304" pitchFamily="18" charset="0"/>
                <a:cs typeface="Times New Roman" panose="02020603050405020304" pitchFamily="18" charset="0"/>
              </a:rPr>
              <a:t>[9] M. Rahman et al., “Lifecycle management of electronic devices,” Sustainable Computing, 2022. </a:t>
            </a:r>
          </a:p>
          <a:p>
            <a:pPr marL="114300" indent="0">
              <a:buNone/>
            </a:pPr>
            <a:r>
              <a:rPr lang="en-IN" sz="2100" dirty="0">
                <a:latin typeface="Times New Roman" panose="02020603050405020304" pitchFamily="18" charset="0"/>
                <a:cs typeface="Times New Roman" panose="02020603050405020304" pitchFamily="18" charset="0"/>
              </a:rPr>
              <a:t>[10] L. Chen et al., “Data-driven analysis of e-waste generation,” Waste Management Journal, 2021.</a:t>
            </a:r>
          </a:p>
          <a:p>
            <a:pPr marL="114300" indent="0">
              <a:buNone/>
            </a:pPr>
            <a:r>
              <a:rPr lang="en-IN" sz="2100" dirty="0">
                <a:latin typeface="Times New Roman" panose="02020603050405020304" pitchFamily="18" charset="0"/>
                <a:cs typeface="Times New Roman" panose="02020603050405020304" pitchFamily="18" charset="0"/>
              </a:rPr>
              <a:t> [11] Y. Li et al., “</a:t>
            </a:r>
            <a:r>
              <a:rPr lang="en-IN" sz="2100" dirty="0" err="1">
                <a:latin typeface="Times New Roman" panose="02020603050405020304" pitchFamily="18" charset="0"/>
                <a:cs typeface="Times New Roman" panose="02020603050405020304" pitchFamily="18" charset="0"/>
              </a:rPr>
              <a:t>IoT</a:t>
            </a:r>
            <a:r>
              <a:rPr lang="en-IN" sz="2100" dirty="0">
                <a:latin typeface="Times New Roman" panose="02020603050405020304" pitchFamily="18" charset="0"/>
                <a:cs typeface="Times New Roman" panose="02020603050405020304" pitchFamily="18" charset="0"/>
              </a:rPr>
              <a:t>-based UPS battery monitoring system,” IEEE Sensors Journal, 2020. </a:t>
            </a:r>
          </a:p>
          <a:p>
            <a:pPr marL="114300" indent="0">
              <a:buNone/>
            </a:pPr>
            <a:r>
              <a:rPr lang="en-IN" sz="2100" dirty="0">
                <a:latin typeface="Times New Roman" panose="02020603050405020304" pitchFamily="18" charset="0"/>
                <a:cs typeface="Times New Roman" panose="02020603050405020304" pitchFamily="18" charset="0"/>
              </a:rPr>
              <a:t>[12] H. Zhang et al., “Predictive maintenance using machine learning,” IEEE Transactions on Industrial Informatics, 2021.</a:t>
            </a:r>
          </a:p>
          <a:p>
            <a:pPr algn="just">
              <a:lnSpc>
                <a:spcPct val="150000"/>
              </a:lnSpc>
            </a:pPr>
            <a:r>
              <a:rPr lang="en-IN" sz="2100" dirty="0" smtClean="0">
                <a:latin typeface="Times New Roman" panose="02020603050405020304" pitchFamily="18" charset="0"/>
                <a:cs typeface="Times New Roman" panose="02020603050405020304" pitchFamily="18" charset="0"/>
              </a:rPr>
              <a:t> </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47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86F3903E-5ADF-F269-A76E-6609C3FF061A}"/>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F3862D65-ECBB-166D-D23F-0FEB24CFB42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a:t>
            </a:r>
            <a:r>
              <a:rPr lang="en-US" dirty="0">
                <a:latin typeface="Times New Roman" panose="02020603050405020304" pitchFamily="18" charset="0"/>
                <a:cs typeface="Times New Roman" panose="02020603050405020304" pitchFamily="18" charset="0"/>
              </a:rPr>
              <a:t> </a:t>
            </a:r>
            <a:r>
              <a:rPr lang="en-US" b="1" dirty="0">
                <a:solidFill>
                  <a:schemeClr val="dk1"/>
                </a:solidFill>
                <a:latin typeface="Times New Roman"/>
                <a:cs typeface="Times New Roman"/>
              </a:rPr>
              <a:t>(Cont..)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51C47290-9F59-F1FE-ED08-F1C426F0DDD8}"/>
              </a:ext>
            </a:extLst>
          </p:cNvPr>
          <p:cNvSpPr>
            <a:spLocks noGrp="1"/>
          </p:cNvSpPr>
          <p:nvPr>
            <p:ph type="body" idx="1"/>
          </p:nvPr>
        </p:nvSpPr>
        <p:spPr>
          <a:xfrm>
            <a:off x="1192696" y="1736725"/>
            <a:ext cx="9829800" cy="4239846"/>
          </a:xfrm>
        </p:spPr>
        <p:txBody>
          <a:bodyPr/>
          <a:lstStyle/>
          <a:p>
            <a:pPr marL="114300" indent="0">
              <a:buNone/>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14] V. </a:t>
            </a:r>
            <a:r>
              <a:rPr lang="en-IN" sz="2100" dirty="0" err="1">
                <a:latin typeface="Times New Roman" panose="02020603050405020304" pitchFamily="18" charset="0"/>
                <a:cs typeface="Times New Roman" panose="02020603050405020304" pitchFamily="18" charset="0"/>
              </a:rPr>
              <a:t>Verma</a:t>
            </a:r>
            <a:r>
              <a:rPr lang="en-IN" sz="2100" dirty="0">
                <a:latin typeface="Times New Roman" panose="02020603050405020304" pitchFamily="18" charset="0"/>
                <a:cs typeface="Times New Roman" panose="02020603050405020304" pitchFamily="18" charset="0"/>
              </a:rPr>
              <a:t> et al., “Automated battery alert system,” Energy Systems Journal, 2021. </a:t>
            </a:r>
            <a:endParaRPr lang="en-IN" sz="2100" dirty="0" smtClean="0">
              <a:latin typeface="Times New Roman" panose="02020603050405020304" pitchFamily="18" charset="0"/>
              <a:cs typeface="Times New Roman" panose="02020603050405020304" pitchFamily="18" charset="0"/>
            </a:endParaRPr>
          </a:p>
          <a:p>
            <a:pPr marL="114300" indent="0">
              <a:buNone/>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15] J. Joseph et al., “Integrated e-waste management platform,” Environmental Systems Research, 2022</a:t>
            </a:r>
            <a:r>
              <a:rPr lang="en-IN" sz="2100" dirty="0" smtClean="0">
                <a:latin typeface="Times New Roman" panose="02020603050405020304" pitchFamily="18" charset="0"/>
                <a:cs typeface="Times New Roman" panose="02020603050405020304" pitchFamily="18" charset="0"/>
              </a:rPr>
              <a:t>. </a:t>
            </a:r>
          </a:p>
          <a:p>
            <a:pPr marL="114300" indent="0">
              <a:buNone/>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16] K. Nair et al., “Dashboard-based device monitoring system,” IEEE Conference Proceedings, 2021</a:t>
            </a:r>
            <a:r>
              <a:rPr lang="en-IN" sz="2100" dirty="0" smtClean="0">
                <a:latin typeface="Times New Roman" panose="02020603050405020304" pitchFamily="18" charset="0"/>
                <a:cs typeface="Times New Roman" panose="02020603050405020304" pitchFamily="18" charset="0"/>
              </a:rPr>
              <a:t>.</a:t>
            </a:r>
          </a:p>
          <a:p>
            <a:pPr marL="114300" indent="0">
              <a:buNone/>
            </a:pPr>
            <a:r>
              <a:rPr lang="en-IN" sz="2100" dirty="0" smtClean="0">
                <a:latin typeface="Times New Roman" panose="02020603050405020304" pitchFamily="18" charset="0"/>
                <a:cs typeface="Times New Roman" panose="02020603050405020304" pitchFamily="18" charset="0"/>
              </a:rPr>
              <a:t> </a:t>
            </a:r>
            <a:r>
              <a:rPr lang="en-IN" sz="2100" dirty="0">
                <a:latin typeface="Times New Roman" panose="02020603050405020304" pitchFamily="18" charset="0"/>
                <a:cs typeface="Times New Roman" panose="02020603050405020304" pitchFamily="18" charset="0"/>
              </a:rPr>
              <a:t>[17] R. Gupta et al., “Centralized database for device management,” Journal of Information Systems, 2020. </a:t>
            </a:r>
            <a:endParaRPr lang="en-IN" sz="2100" dirty="0" smtClean="0">
              <a:latin typeface="Times New Roman" panose="02020603050405020304" pitchFamily="18" charset="0"/>
              <a:cs typeface="Times New Roman" panose="02020603050405020304" pitchFamily="18" charset="0"/>
            </a:endParaRPr>
          </a:p>
          <a:p>
            <a:pPr marL="114300" indent="0">
              <a:buNone/>
            </a:pPr>
            <a:r>
              <a:rPr lang="en-IN" sz="2100" dirty="0">
                <a:latin typeface="Times New Roman" panose="02020603050405020304" pitchFamily="18" charset="0"/>
                <a:cs typeface="Times New Roman" panose="02020603050405020304" pitchFamily="18" charset="0"/>
              </a:rPr>
              <a:t> </a:t>
            </a: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18] T. Hassan et al., “Embedded battery monitoring system,” Microelectronics Journal, 2021. [19] S. Roy et al., “Statistical battery failure prediction,” Energy Reports, </a:t>
            </a:r>
            <a:r>
              <a:rPr lang="en-IN" sz="2100" dirty="0" smtClean="0">
                <a:latin typeface="Times New Roman" panose="02020603050405020304" pitchFamily="18" charset="0"/>
                <a:cs typeface="Times New Roman" panose="02020603050405020304" pitchFamily="18" charset="0"/>
              </a:rPr>
              <a:t>2022</a:t>
            </a:r>
          </a:p>
          <a:p>
            <a:pPr marL="114300" indent="0">
              <a:buNone/>
            </a:pPr>
            <a:r>
              <a:rPr lang="en-US" sz="2100" dirty="0" smtClean="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19] S. Roy et al., “Statistical battery failure prediction,” Energy Reports, 2022. </a:t>
            </a:r>
            <a:endParaRPr lang="en-IN" sz="2100" dirty="0">
              <a:latin typeface="Times New Roman" panose="02020603050405020304" pitchFamily="18" charset="0"/>
              <a:cs typeface="Times New Roman" panose="02020603050405020304" pitchFamily="18" charset="0"/>
            </a:endParaRPr>
          </a:p>
        </p:txBody>
      </p:sp>
      <p:sp>
        <p:nvSpPr>
          <p:cNvPr id="4" name="Google Shape;125;p1">
            <a:extLst>
              <a:ext uri="{FF2B5EF4-FFF2-40B4-BE49-F238E27FC236}">
                <a16:creationId xmlns="" xmlns:a16="http://schemas.microsoft.com/office/drawing/2014/main" id="{3ACCF673-CF07-53CE-D10C-E6AD42754724}"/>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1787152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3154F72-351D-04D5-DAB5-3DB801D76737}"/>
            </a:ext>
          </a:extLst>
        </p:cNvPr>
        <p:cNvGrpSpPr/>
        <p:nvPr/>
      </p:nvGrpSpPr>
      <p:grpSpPr>
        <a:xfrm>
          <a:off x="0" y="0"/>
          <a:ext cx="0" cy="0"/>
          <a:chOff x="0" y="0"/>
          <a:chExt cx="0" cy="0"/>
        </a:xfrm>
      </p:grpSpPr>
      <p:sp>
        <p:nvSpPr>
          <p:cNvPr id="2" name="Title 1">
            <a:extLst>
              <a:ext uri="{FF2B5EF4-FFF2-40B4-BE49-F238E27FC236}">
                <a16:creationId xmlns="" xmlns:a16="http://schemas.microsoft.com/office/drawing/2014/main" id="{70B357D0-73F0-64E7-1A7F-5D90311D9DC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 </a:t>
            </a:r>
            <a:r>
              <a:rPr lang="en-US" b="1" dirty="0">
                <a:solidFill>
                  <a:schemeClr val="dk1"/>
                </a:solidFill>
                <a:latin typeface="Times New Roman"/>
                <a:cs typeface="Times New Roman"/>
              </a:rPr>
              <a:t>(Cont..)</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 xmlns:a16="http://schemas.microsoft.com/office/drawing/2014/main" id="{D9692C4C-EBF3-BCBB-6A59-6D932273B161}"/>
              </a:ext>
            </a:extLst>
          </p:cNvPr>
          <p:cNvSpPr>
            <a:spLocks noGrp="1"/>
          </p:cNvSpPr>
          <p:nvPr>
            <p:ph type="body" idx="1"/>
          </p:nvPr>
        </p:nvSpPr>
        <p:spPr>
          <a:xfrm>
            <a:off x="1096963" y="1895752"/>
            <a:ext cx="9905655" cy="3312352"/>
          </a:xfrm>
        </p:spPr>
        <p:txBody>
          <a:bodyPr/>
          <a:lstStyle/>
          <a:p>
            <a:pPr marL="114300" indent="0">
              <a:buNone/>
            </a:pPr>
            <a:r>
              <a:rPr lang="en-IN" sz="2100" dirty="0">
                <a:latin typeface="Times New Roman" panose="02020603050405020304" pitchFamily="18" charset="0"/>
                <a:cs typeface="Times New Roman" panose="02020603050405020304" pitchFamily="18" charset="0"/>
              </a:rPr>
              <a:t>[20] P. Das et al., “Lightweight monitoring system for institutions,” International Journal of Engineering Trends, 2021. </a:t>
            </a:r>
            <a:endParaRPr lang="en-IN" sz="2100" dirty="0" smtClean="0">
              <a:latin typeface="Times New Roman" panose="02020603050405020304" pitchFamily="18" charset="0"/>
              <a:cs typeface="Times New Roman" panose="02020603050405020304" pitchFamily="18" charset="0"/>
            </a:endParaRPr>
          </a:p>
          <a:p>
            <a:pPr marL="114300" indent="0">
              <a:buNone/>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21] A. Mehta et al., “Cloud-integrated monitoring platform,” IEEE Cloud Computing, 2022. </a:t>
            </a:r>
            <a:endParaRPr lang="en-IN" sz="2100" dirty="0" smtClean="0">
              <a:latin typeface="Times New Roman" panose="02020603050405020304" pitchFamily="18" charset="0"/>
              <a:cs typeface="Times New Roman" panose="02020603050405020304" pitchFamily="18" charset="0"/>
            </a:endParaRPr>
          </a:p>
          <a:p>
            <a:pPr marL="114300" indent="0">
              <a:buNone/>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22] F. Khan et al., “Alert-based maintenance system,” International Journal of Advanced Computing, 2021. </a:t>
            </a:r>
            <a:endParaRPr lang="en-IN" sz="2100" dirty="0" smtClean="0">
              <a:latin typeface="Times New Roman" panose="02020603050405020304" pitchFamily="18" charset="0"/>
              <a:cs typeface="Times New Roman" panose="02020603050405020304" pitchFamily="18" charset="0"/>
            </a:endParaRPr>
          </a:p>
          <a:p>
            <a:pPr marL="114300" indent="0">
              <a:buNone/>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23] R. </a:t>
            </a:r>
            <a:r>
              <a:rPr lang="en-IN" sz="2100" dirty="0" err="1">
                <a:latin typeface="Times New Roman" panose="02020603050405020304" pitchFamily="18" charset="0"/>
                <a:cs typeface="Times New Roman" panose="02020603050405020304" pitchFamily="18" charset="0"/>
              </a:rPr>
              <a:t>Iyer</a:t>
            </a:r>
            <a:r>
              <a:rPr lang="en-IN" sz="2100" dirty="0">
                <a:latin typeface="Times New Roman" panose="02020603050405020304" pitchFamily="18" charset="0"/>
                <a:cs typeface="Times New Roman" panose="02020603050405020304" pitchFamily="18" charset="0"/>
              </a:rPr>
              <a:t> et al., “Hybrid e-waste and device monitoring system,” Sustainable Technology Journal, 2022. </a:t>
            </a:r>
            <a:endParaRPr lang="en-IN" sz="2100" dirty="0" smtClean="0">
              <a:latin typeface="Times New Roman" panose="02020603050405020304" pitchFamily="18" charset="0"/>
              <a:cs typeface="Times New Roman" panose="02020603050405020304" pitchFamily="18" charset="0"/>
            </a:endParaRPr>
          </a:p>
          <a:p>
            <a:pPr marL="114300" indent="0">
              <a:buNone/>
            </a:pPr>
            <a:r>
              <a:rPr lang="en-IN" sz="2100" dirty="0" smtClean="0">
                <a:latin typeface="Times New Roman" panose="02020603050405020304" pitchFamily="18" charset="0"/>
                <a:cs typeface="Times New Roman" panose="02020603050405020304" pitchFamily="18" charset="0"/>
              </a:rPr>
              <a:t>[</a:t>
            </a:r>
            <a:r>
              <a:rPr lang="en-IN" sz="2100" dirty="0">
                <a:latin typeface="Times New Roman" panose="02020603050405020304" pitchFamily="18" charset="0"/>
                <a:cs typeface="Times New Roman" panose="02020603050405020304" pitchFamily="18" charset="0"/>
              </a:rPr>
              <a:t>24] N. Sharma et al., “Analytics-driven e-waste tracking system,” Journal of Cleaner Production, 2023. </a:t>
            </a:r>
            <a:endParaRPr lang="en-IN" sz="2100" dirty="0" smtClean="0">
              <a:latin typeface="Times New Roman" panose="02020603050405020304" pitchFamily="18" charset="0"/>
              <a:cs typeface="Times New Roman" panose="02020603050405020304" pitchFamily="18" charset="0"/>
            </a:endParaRPr>
          </a:p>
          <a:p>
            <a:pPr marL="114300" indent="0">
              <a:buNone/>
            </a:pPr>
            <a:r>
              <a:rPr lang="en-IN" sz="2100" dirty="0" smtClean="0">
                <a:latin typeface="Times New Roman" panose="02020603050405020304" pitchFamily="18" charset="0"/>
                <a:cs typeface="Times New Roman" panose="02020603050405020304" pitchFamily="18" charset="0"/>
              </a:rPr>
              <a:t>.</a:t>
            </a:r>
            <a:endParaRPr lang="en-IN" sz="2100" dirty="0">
              <a:latin typeface="Times New Roman" panose="02020603050405020304" pitchFamily="18" charset="0"/>
              <a:cs typeface="Times New Roman" panose="02020603050405020304" pitchFamily="18" charset="0"/>
            </a:endParaRPr>
          </a:p>
        </p:txBody>
      </p:sp>
      <p:sp>
        <p:nvSpPr>
          <p:cNvPr id="4" name="Google Shape;125;p1">
            <a:extLst>
              <a:ext uri="{FF2B5EF4-FFF2-40B4-BE49-F238E27FC236}">
                <a16:creationId xmlns="" xmlns:a16="http://schemas.microsoft.com/office/drawing/2014/main" id="{90CC672D-32D5-11E1-ADED-325A68C00518}"/>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spTree>
    <p:extLst>
      <p:ext uri="{BB962C8B-B14F-4D97-AF65-F5344CB8AC3E}">
        <p14:creationId xmlns:p14="http://schemas.microsoft.com/office/powerpoint/2010/main" val="16968036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References </a:t>
            </a:r>
            <a:r>
              <a:rPr lang="en-US" b="1" dirty="0">
                <a:solidFill>
                  <a:schemeClr val="dk1"/>
                </a:solidFill>
                <a:latin typeface="Times New Roman"/>
                <a:cs typeface="Times New Roman"/>
              </a:rPr>
              <a:t>(Cont..)</a:t>
            </a:r>
            <a:endParaRPr lang="en-IN" dirty="0"/>
          </a:p>
        </p:txBody>
      </p:sp>
      <p:sp>
        <p:nvSpPr>
          <p:cNvPr id="3" name="Text Placeholder 2"/>
          <p:cNvSpPr>
            <a:spLocks noGrp="1"/>
          </p:cNvSpPr>
          <p:nvPr>
            <p:ph type="body" idx="1"/>
          </p:nvPr>
        </p:nvSpPr>
        <p:spPr/>
        <p:txBody>
          <a:bodyPr/>
          <a:lstStyle/>
          <a:p>
            <a:r>
              <a:rPr lang="en-IN" sz="2100" dirty="0">
                <a:latin typeface="Times New Roman" panose="02020603050405020304" pitchFamily="18" charset="0"/>
                <a:cs typeface="Times New Roman" panose="02020603050405020304" pitchFamily="18" charset="0"/>
              </a:rPr>
              <a:t>[25] Proposed Work, “Smart E-Waste Monitoring and Battery Lifecycle Management System,” 2026</a:t>
            </a:r>
            <a:endParaRPr lang="en-IN" sz="2100" dirty="0"/>
          </a:p>
        </p:txBody>
      </p:sp>
    </p:spTree>
    <p:extLst>
      <p:ext uri="{BB962C8B-B14F-4D97-AF65-F5344CB8AC3E}">
        <p14:creationId xmlns:p14="http://schemas.microsoft.com/office/powerpoint/2010/main" val="2347660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500+ Thank You Transparent Stock Photos, Pictures &amp; Royalty-Free ...">
            <a:extLst>
              <a:ext uri="{FF2B5EF4-FFF2-40B4-BE49-F238E27FC236}">
                <a16:creationId xmlns="" xmlns:a16="http://schemas.microsoft.com/office/drawing/2014/main" id="{7F468C0A-6C56-564C-0D9E-8CAFB3BB9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462346"/>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5;p1">
            <a:extLst>
              <a:ext uri="{FF2B5EF4-FFF2-40B4-BE49-F238E27FC236}">
                <a16:creationId xmlns="" xmlns:a16="http://schemas.microsoft.com/office/drawing/2014/main" id="{3199C71F-859D-366D-01EF-2306255B4F00}"/>
              </a:ext>
            </a:extLst>
          </p:cNvPr>
          <p:cNvSpPr txBox="1">
            <a:spLocks/>
          </p:cNvSpPr>
          <p:nvPr/>
        </p:nvSpPr>
        <p:spPr>
          <a:xfrm>
            <a:off x="3548228" y="6473824"/>
            <a:ext cx="798576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solidFill>
                  <a:schemeClr val="bg1"/>
                </a:solidFill>
              </a:rPr>
              <a:t>SCHOOL OF ELECTRONICS, ELECTRICAL AND BIOMEDICAL TECHNOLOGY             DEPARTMENT OF BIOMEDICAL ENGINEERING                    215BME4265 – Capstone Project </a:t>
            </a:r>
          </a:p>
        </p:txBody>
      </p:sp>
      <p:pic>
        <p:nvPicPr>
          <p:cNvPr id="10" name="Picture 9">
            <a:extLst>
              <a:ext uri="{FF2B5EF4-FFF2-40B4-BE49-F238E27FC236}">
                <a16:creationId xmlns="" xmlns:a16="http://schemas.microsoft.com/office/drawing/2014/main" id="{1A8E5CC2-D14B-98B7-B67A-3B8754F604E7}"/>
              </a:ext>
            </a:extLst>
          </p:cNvPr>
          <p:cNvPicPr>
            <a:picLocks noChangeAspect="1"/>
          </p:cNvPicPr>
          <p:nvPr/>
        </p:nvPicPr>
        <p:blipFill>
          <a:blip r:embed="rId3"/>
          <a:stretch>
            <a:fillRect/>
          </a:stretch>
        </p:blipFill>
        <p:spPr>
          <a:xfrm>
            <a:off x="10366342" y="0"/>
            <a:ext cx="1707981" cy="1649837"/>
          </a:xfrm>
          <a:prstGeom prst="rect">
            <a:avLst/>
          </a:prstGeom>
        </p:spPr>
      </p:pic>
    </p:spTree>
    <p:extLst>
      <p:ext uri="{BB962C8B-B14F-4D97-AF65-F5344CB8AC3E}">
        <p14:creationId xmlns:p14="http://schemas.microsoft.com/office/powerpoint/2010/main" val="1478243856"/>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VTI">
  <a:themeElements>
    <a:clrScheme name="Custom 62">
      <a:dk1>
        <a:srgbClr val="000000"/>
      </a:dk1>
      <a:lt1>
        <a:srgbClr val="FFFFFF"/>
      </a:lt1>
      <a:dk2>
        <a:srgbClr val="322441"/>
      </a:dk2>
      <a:lt2>
        <a:srgbClr val="E8E8E2"/>
      </a:lt2>
      <a:accent1>
        <a:srgbClr val="3F3DE3"/>
      </a:accent1>
      <a:accent2>
        <a:srgbClr val="7229D2"/>
      </a:accent2>
      <a:accent3>
        <a:srgbClr val="C62FE1"/>
      </a:accent3>
      <a:accent4>
        <a:srgbClr val="CF1DA0"/>
      </a:accent4>
      <a:accent5>
        <a:srgbClr val="E12F68"/>
      </a:accent5>
      <a:accent6>
        <a:srgbClr val="CF2E1D"/>
      </a:accent6>
      <a:hlink>
        <a:srgbClr val="87882D"/>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589</TotalTime>
  <Words>2265</Words>
  <Application>Microsoft Office PowerPoint</Application>
  <PresentationFormat>Widescreen</PresentationFormat>
  <Paragraphs>216</Paragraphs>
  <Slides>27</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Noto Sans Symbols</vt:lpstr>
      <vt:lpstr>Times New Roman</vt:lpstr>
      <vt:lpstr>RetrospectVTI</vt:lpstr>
      <vt:lpstr>WEB BASED E-WASTE AND BATTERY LIFECYCLE MANAGEMENT SYSTEM </vt:lpstr>
      <vt:lpstr>Problem Statement</vt:lpstr>
      <vt:lpstr>PowerPoint Presentation</vt:lpstr>
      <vt:lpstr>Abstract</vt:lpstr>
      <vt:lpstr>Introduction</vt:lpstr>
      <vt:lpstr>Objectives</vt:lpstr>
      <vt:lpstr>Motivation &amp; Significance</vt:lpstr>
      <vt:lpstr>Motivation &amp; Significance (Cont..)</vt:lpstr>
      <vt:lpstr>Literature Review</vt:lpstr>
      <vt:lpstr>Literature Review (Cont..)</vt:lpstr>
      <vt:lpstr>Block Diagram / Architecture</vt:lpstr>
      <vt:lpstr>Proposed Work</vt:lpstr>
      <vt:lpstr>Flow chart</vt:lpstr>
      <vt:lpstr>Design and Implementation</vt:lpstr>
      <vt:lpstr>Software Design(Cont..) </vt:lpstr>
      <vt:lpstr>Software Design (Cont..)</vt:lpstr>
      <vt:lpstr>Software Design (Cont..)</vt:lpstr>
      <vt:lpstr>Comparison with Existing Method</vt:lpstr>
      <vt:lpstr>Conclusion</vt:lpstr>
      <vt:lpstr>Future Work</vt:lpstr>
      <vt:lpstr>References</vt:lpstr>
      <vt:lpstr>References (Cont..)</vt:lpstr>
      <vt:lpstr>References (Cont..)</vt:lpstr>
      <vt:lpstr>References (Cont..)</vt:lpstr>
      <vt:lpstr>References (Cont..)</vt:lpstr>
      <vt:lpstr>References (Cont..)</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DIABETIC RETINOPATHY MONITORING SYSTEM</dc:title>
  <dc:creator>DELL</dc:creator>
  <cp:lastModifiedBy>Siva Priya</cp:lastModifiedBy>
  <cp:revision>28</cp:revision>
  <dcterms:created xsi:type="dcterms:W3CDTF">2022-01-04T13:33:08Z</dcterms:created>
  <dcterms:modified xsi:type="dcterms:W3CDTF">2026-04-15T16:17:56Z</dcterms:modified>
</cp:coreProperties>
</file>